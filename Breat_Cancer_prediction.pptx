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4" r:id="rId3"/>
    <p:sldId id="732" r:id="rId4"/>
    <p:sldId id="715" r:id="rId5"/>
    <p:sldId id="716" r:id="rId6"/>
    <p:sldId id="717" r:id="rId7"/>
    <p:sldId id="718" r:id="rId8"/>
    <p:sldId id="713" r:id="rId9"/>
    <p:sldId id="719" r:id="rId10"/>
    <p:sldId id="720" r:id="rId11"/>
    <p:sldId id="721" r:id="rId12"/>
    <p:sldId id="722" r:id="rId13"/>
    <p:sldId id="723" r:id="rId14"/>
    <p:sldId id="724" r:id="rId15"/>
    <p:sldId id="725" r:id="rId16"/>
    <p:sldId id="726" r:id="rId17"/>
    <p:sldId id="727" r:id="rId18"/>
    <p:sldId id="728" r:id="rId19"/>
    <p:sldId id="729" r:id="rId20"/>
    <p:sldId id="731" r:id="rId21"/>
    <p:sldId id="711"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79" d="100"/>
          <a:sy n="79" d="100"/>
        </p:scale>
        <p:origin x="850" y="8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17-05-2026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838526" y="2836931"/>
            <a:ext cx="9474742" cy="2953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latin typeface="Calibri" panose="020F0502020204030204" pitchFamily="34" charset="0"/>
            </a:endParaRPr>
          </a:p>
          <a:p>
            <a:pPr algn="ctr"/>
            <a:r>
              <a:rPr lang="en-IN" sz="4400" b="1" dirty="0">
                <a:latin typeface="Calibri" panose="020F0502020204030204" pitchFamily="34" charset="0"/>
              </a:rPr>
              <a:t>Breast Cancer Risk Prediction</a:t>
            </a:r>
          </a:p>
          <a:p>
            <a:pPr algn="ctr"/>
            <a:endParaRPr lang="en-US" sz="4400" b="1" dirty="0">
              <a:latin typeface="Calibri" panose="020F0502020204030204" pitchFamily="34" charset="0"/>
            </a:endParaRPr>
          </a:p>
        </p:txBody>
      </p:sp>
      <p:sp>
        <p:nvSpPr>
          <p:cNvPr id="3" name="TextBox 2">
            <a:extLst>
              <a:ext uri="{FF2B5EF4-FFF2-40B4-BE49-F238E27FC236}">
                <a16:creationId xmlns:a16="http://schemas.microsoft.com/office/drawing/2014/main" id="{6B533168-A636-E710-01B3-6EE8038E1C92}"/>
              </a:ext>
            </a:extLst>
          </p:cNvPr>
          <p:cNvSpPr txBox="1"/>
          <p:nvPr/>
        </p:nvSpPr>
        <p:spPr>
          <a:xfrm>
            <a:off x="6799634" y="3429000"/>
            <a:ext cx="3266856" cy="369332"/>
          </a:xfrm>
          <a:prstGeom prst="rect">
            <a:avLst/>
          </a:prstGeom>
          <a:noFill/>
        </p:spPr>
        <p:txBody>
          <a:bodyPr wrap="none" rtlCol="0">
            <a:spAutoFit/>
          </a:bodyPr>
          <a:lstStyle/>
          <a:p>
            <a:r>
              <a:rPr lang="en-US" dirty="0">
                <a:solidFill>
                  <a:schemeClr val="bg1"/>
                </a:solidFill>
              </a:rPr>
              <a:t>Prepared by: Yoosuf Mohammed</a:t>
            </a:r>
            <a:endParaRPr lang="en-IN"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sz="2800" dirty="0"/>
              <a:t>Agenda</a:t>
            </a:r>
            <a:endParaRPr lang="en-IN" sz="2800"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3" y="1431883"/>
            <a:ext cx="10834234" cy="4287981"/>
          </a:xfrm>
        </p:spPr>
        <p:txBody>
          <a:bodyPr>
            <a:normAutofit lnSpcReduction="10000"/>
          </a:bodyPr>
          <a:lstStyle/>
          <a:p>
            <a:pPr>
              <a:buFont typeface="Wingdings" panose="05000000000000000000" pitchFamily="2" charset="2"/>
              <a:buChar char="§"/>
            </a:pPr>
            <a:r>
              <a:rPr lang="en-US" sz="2000" dirty="0"/>
              <a:t>Introduction to Breast Cancer Survival Prediction</a:t>
            </a:r>
          </a:p>
          <a:p>
            <a:pPr>
              <a:buFont typeface="Wingdings" panose="05000000000000000000" pitchFamily="2" charset="2"/>
              <a:buChar char="§"/>
            </a:pPr>
            <a:r>
              <a:rPr lang="en-IN" sz="2000" dirty="0"/>
              <a:t>Project Objective &amp; Problem Statement</a:t>
            </a:r>
          </a:p>
          <a:p>
            <a:pPr>
              <a:buFont typeface="Wingdings" panose="05000000000000000000" pitchFamily="2" charset="2"/>
              <a:buChar char="§"/>
            </a:pPr>
            <a:r>
              <a:rPr lang="en-IN" sz="2000" dirty="0"/>
              <a:t>Dataset Overview</a:t>
            </a:r>
          </a:p>
          <a:p>
            <a:pPr>
              <a:buFont typeface="Wingdings" panose="05000000000000000000" pitchFamily="2" charset="2"/>
              <a:buChar char="§"/>
            </a:pPr>
            <a:r>
              <a:rPr lang="en-IN" sz="2000" dirty="0"/>
              <a:t>Data Cleaning &amp; Preprocessing</a:t>
            </a:r>
          </a:p>
          <a:p>
            <a:pPr>
              <a:buFont typeface="Wingdings" panose="05000000000000000000" pitchFamily="2" charset="2"/>
              <a:buChar char="§"/>
            </a:pPr>
            <a:r>
              <a:rPr lang="en-IN" sz="2000" dirty="0"/>
              <a:t>Exploratory Data Analysis (EDA)</a:t>
            </a:r>
          </a:p>
          <a:p>
            <a:pPr>
              <a:buFont typeface="Wingdings" panose="05000000000000000000" pitchFamily="2" charset="2"/>
              <a:buChar char="§"/>
            </a:pPr>
            <a:r>
              <a:rPr lang="en-IN" sz="2000" dirty="0"/>
              <a:t>Machine Learning Model Development</a:t>
            </a:r>
          </a:p>
          <a:p>
            <a:pPr>
              <a:buFont typeface="Wingdings" panose="05000000000000000000" pitchFamily="2" charset="2"/>
              <a:buChar char="§"/>
            </a:pPr>
            <a:r>
              <a:rPr lang="en-IN" sz="2000" dirty="0"/>
              <a:t>Model Preparation</a:t>
            </a:r>
          </a:p>
          <a:p>
            <a:pPr>
              <a:buFont typeface="Wingdings" panose="05000000000000000000" pitchFamily="2" charset="2"/>
              <a:buChar char="§"/>
            </a:pPr>
            <a:r>
              <a:rPr lang="en-IN" sz="2000" dirty="0"/>
              <a:t>Model Evaluation &amp; Comparison</a:t>
            </a:r>
          </a:p>
          <a:p>
            <a:pPr>
              <a:buFont typeface="Wingdings" panose="05000000000000000000" pitchFamily="2" charset="2"/>
              <a:buChar char="§"/>
            </a:pPr>
            <a:r>
              <a:rPr lang="en-IN" sz="2000" dirty="0"/>
              <a:t>Feature Importance Analysis</a:t>
            </a:r>
          </a:p>
          <a:p>
            <a:pPr>
              <a:buFont typeface="Wingdings" panose="05000000000000000000" pitchFamily="2" charset="2"/>
              <a:buChar char="§"/>
            </a:pPr>
            <a:r>
              <a:rPr lang="en-IN" sz="2000" dirty="0"/>
              <a:t>Survival Analysis</a:t>
            </a:r>
          </a:p>
          <a:p>
            <a:pPr>
              <a:buFont typeface="Wingdings" panose="05000000000000000000" pitchFamily="2" charset="2"/>
              <a:buChar char="§"/>
            </a:pPr>
            <a:r>
              <a:rPr lang="en-IN" sz="2000" dirty="0"/>
              <a:t>Conclusion &amp; Future Scope</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65372-B9DE-205B-E90E-FEAB88CECB9A}"/>
              </a:ext>
            </a:extLst>
          </p:cNvPr>
          <p:cNvSpPr>
            <a:spLocks noGrp="1"/>
          </p:cNvSpPr>
          <p:nvPr>
            <p:ph type="title"/>
          </p:nvPr>
        </p:nvSpPr>
        <p:spPr/>
        <p:txBody>
          <a:bodyPr>
            <a:normAutofit/>
          </a:bodyPr>
          <a:lstStyle/>
          <a:p>
            <a:r>
              <a:rPr lang="en-US" sz="2800" dirty="0"/>
              <a:t>Introduction to Breast Cancer Survival Prediction</a:t>
            </a:r>
            <a:endParaRPr lang="en-IN" sz="2800" dirty="0"/>
          </a:p>
        </p:txBody>
      </p:sp>
      <p:sp>
        <p:nvSpPr>
          <p:cNvPr id="3" name="Content Placeholder 2">
            <a:extLst>
              <a:ext uri="{FF2B5EF4-FFF2-40B4-BE49-F238E27FC236}">
                <a16:creationId xmlns:a16="http://schemas.microsoft.com/office/drawing/2014/main" id="{2379F3AC-6CCB-5923-B5A1-FB06EA31EE39}"/>
              </a:ext>
            </a:extLst>
          </p:cNvPr>
          <p:cNvSpPr>
            <a:spLocks noGrp="1"/>
          </p:cNvSpPr>
          <p:nvPr>
            <p:ph idx="1"/>
          </p:nvPr>
        </p:nvSpPr>
        <p:spPr>
          <a:xfrm>
            <a:off x="678884" y="1568071"/>
            <a:ext cx="6169388" cy="3689366"/>
          </a:xfrm>
        </p:spPr>
        <p:txBody>
          <a:bodyPr>
            <a:normAutofit/>
          </a:bodyPr>
          <a:lstStyle/>
          <a:p>
            <a:pPr marL="0" indent="0">
              <a:buNone/>
            </a:pPr>
            <a:r>
              <a:rPr lang="en-US" sz="1600" dirty="0"/>
              <a:t>Breast cancer is one of the most common and life-threatening diseases affecting women worldwide. Predicting patient survival and mortality risk is an important challenge in healthcare because survival outcomes can vary based on several clinical and tumor-related factors.</a:t>
            </a:r>
          </a:p>
          <a:p>
            <a:pPr marL="0" indent="0">
              <a:buNone/>
            </a:pPr>
            <a:r>
              <a:rPr lang="en-US" sz="1600" dirty="0"/>
              <a:t>Breast cancer survival prediction uses machine learning and survival analysis techniques to study patient data, identify important risk factors, and estimate long-term survival probability. These predictive models can support early diagnosis, better treatment planning, patient counselling, and improved clinical decision-making.</a:t>
            </a:r>
          </a:p>
          <a:p>
            <a:pPr marL="0" indent="0">
              <a:buNone/>
            </a:pPr>
            <a:r>
              <a:rPr lang="en-US" sz="1600" dirty="0"/>
              <a:t>In this project, clinical and survival-related data were analyzed to develop models capable of predicting the 10-year mortality risk of breast cancer patients.</a:t>
            </a:r>
          </a:p>
        </p:txBody>
      </p:sp>
      <p:pic>
        <p:nvPicPr>
          <p:cNvPr id="3078" name="Picture 6" descr="Doctor holding pink ribbon with medical medical network connection icons.">
            <a:extLst>
              <a:ext uri="{FF2B5EF4-FFF2-40B4-BE49-F238E27FC236}">
                <a16:creationId xmlns:a16="http://schemas.microsoft.com/office/drawing/2014/main" id="{F101F43F-AC99-E70E-5E59-6FC735C9D07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1117" r="5568" b="16790"/>
          <a:stretch>
            <a:fillRect/>
          </a:stretch>
        </p:blipFill>
        <p:spPr bwMode="auto">
          <a:xfrm>
            <a:off x="7645940" y="1902716"/>
            <a:ext cx="3638145" cy="2304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78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563227-002B-9205-8B50-BB153DE6777F}"/>
              </a:ext>
            </a:extLst>
          </p:cNvPr>
          <p:cNvSpPr>
            <a:spLocks noGrp="1"/>
          </p:cNvSpPr>
          <p:nvPr>
            <p:ph idx="1"/>
          </p:nvPr>
        </p:nvSpPr>
        <p:spPr>
          <a:xfrm>
            <a:off x="564204" y="826852"/>
            <a:ext cx="10919731" cy="4750179"/>
          </a:xfrm>
        </p:spPr>
        <p:txBody>
          <a:bodyPr>
            <a:normAutofit/>
          </a:bodyPr>
          <a:lstStyle/>
          <a:p>
            <a:pPr marL="0" indent="0">
              <a:lnSpc>
                <a:spcPct val="100000"/>
              </a:lnSpc>
              <a:buNone/>
            </a:pPr>
            <a:r>
              <a:rPr lang="en-IN" b="1" dirty="0">
                <a:solidFill>
                  <a:schemeClr val="tx1"/>
                </a:solidFill>
                <a:ea typeface="+mj-ea"/>
                <a:cs typeface="+mj-cs"/>
              </a:rPr>
              <a:t>Project Goal</a:t>
            </a:r>
            <a:endParaRPr lang="en-US" b="1" dirty="0">
              <a:solidFill>
                <a:schemeClr val="tx1"/>
              </a:solidFill>
              <a:ea typeface="+mj-ea"/>
              <a:cs typeface="+mj-cs"/>
            </a:endParaRPr>
          </a:p>
          <a:p>
            <a:pPr marL="0" indent="0">
              <a:lnSpc>
                <a:spcPct val="100000"/>
              </a:lnSpc>
              <a:buNone/>
            </a:pPr>
            <a:r>
              <a:rPr lang="en-US" sz="2000" dirty="0"/>
              <a:t>The goal of this project is to develop survival analysis and machine learning models to predict the 10-year mortality risk of breast cancer patients. The insights obtained from these models can support better treatment planning, patient counselling, and overall cancer care strategies.</a:t>
            </a:r>
          </a:p>
          <a:p>
            <a:pPr marL="0" indent="0">
              <a:lnSpc>
                <a:spcPct val="100000"/>
              </a:lnSpc>
              <a:buNone/>
            </a:pPr>
            <a:endParaRPr lang="en-US" sz="2000" dirty="0"/>
          </a:p>
          <a:p>
            <a:pPr marL="0" indent="0">
              <a:spcBef>
                <a:spcPct val="0"/>
              </a:spcBef>
              <a:buNone/>
            </a:pPr>
            <a:r>
              <a:rPr lang="en-US" b="1" dirty="0">
                <a:solidFill>
                  <a:schemeClr val="tx1"/>
                </a:solidFill>
                <a:ea typeface="+mj-ea"/>
                <a:cs typeface="+mj-cs"/>
              </a:rPr>
              <a:t>Problem Statement</a:t>
            </a:r>
          </a:p>
          <a:p>
            <a:pPr marL="0" indent="0">
              <a:lnSpc>
                <a:spcPct val="100000"/>
              </a:lnSpc>
              <a:buNone/>
            </a:pPr>
            <a:r>
              <a:rPr lang="en-US" sz="2000" dirty="0"/>
              <a:t>Breast cancer is one of the leading causes of cancer-related deaths worldwide. Predicting patient survival and mortality risk is challenging because multiple clinical and genetic factors influence treatment outcomes.</a:t>
            </a:r>
          </a:p>
          <a:p>
            <a:pPr marL="0" indent="0">
              <a:lnSpc>
                <a:spcPct val="100000"/>
              </a:lnSpc>
              <a:buNone/>
            </a:pPr>
            <a:r>
              <a:rPr lang="en-US" sz="2000" dirty="0"/>
              <a:t>Traditional methods may not always provide accurate long-term survival predictions, making it important to use data-driven approaches for better decision-making.</a:t>
            </a:r>
          </a:p>
          <a:p>
            <a:pPr marL="0" indent="0">
              <a:lnSpc>
                <a:spcPct val="100000"/>
              </a:lnSpc>
              <a:buNone/>
            </a:pPr>
            <a:endParaRPr lang="en-US" sz="2000" dirty="0"/>
          </a:p>
          <a:p>
            <a:pPr marL="0" indent="0">
              <a:lnSpc>
                <a:spcPct val="100000"/>
              </a:lnSpc>
              <a:buNone/>
            </a:pPr>
            <a:endParaRPr lang="en-US" sz="2000" dirty="0"/>
          </a:p>
          <a:p>
            <a:pPr>
              <a:lnSpc>
                <a:spcPct val="100000"/>
              </a:lnSpc>
            </a:pPr>
            <a:endParaRPr lang="en-IN" sz="2000" dirty="0"/>
          </a:p>
          <a:p>
            <a:pPr marL="0" indent="0">
              <a:lnSpc>
                <a:spcPct val="100000"/>
              </a:lnSpc>
              <a:buNone/>
            </a:pPr>
            <a:endParaRPr lang="en-IN" sz="2000" dirty="0"/>
          </a:p>
        </p:txBody>
      </p:sp>
      <p:sp>
        <p:nvSpPr>
          <p:cNvPr id="4" name="AutoShape 2" descr="AI-Powered Personalized Cancer Treatment abstract concept vector illustration.">
            <a:extLst>
              <a:ext uri="{FF2B5EF4-FFF2-40B4-BE49-F238E27FC236}">
                <a16:creationId xmlns:a16="http://schemas.microsoft.com/office/drawing/2014/main" id="{08FE4BFF-D93C-1881-98AB-6E70A6B839C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678913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73DE-34E2-61EB-C5E6-C5258578097E}"/>
              </a:ext>
            </a:extLst>
          </p:cNvPr>
          <p:cNvSpPr>
            <a:spLocks noGrp="1"/>
          </p:cNvSpPr>
          <p:nvPr>
            <p:ph type="title"/>
          </p:nvPr>
        </p:nvSpPr>
        <p:spPr/>
        <p:txBody>
          <a:bodyPr/>
          <a:lstStyle/>
          <a:p>
            <a:r>
              <a:rPr lang="en-IN" sz="3600" dirty="0"/>
              <a:t>Breast Cancer Dataset </a:t>
            </a:r>
            <a:endParaRPr lang="en-IN" dirty="0"/>
          </a:p>
        </p:txBody>
      </p:sp>
      <p:sp>
        <p:nvSpPr>
          <p:cNvPr id="3" name="Content Placeholder 2">
            <a:extLst>
              <a:ext uri="{FF2B5EF4-FFF2-40B4-BE49-F238E27FC236}">
                <a16:creationId xmlns:a16="http://schemas.microsoft.com/office/drawing/2014/main" id="{7DD8C6F5-029D-9BF6-2C0F-D4C9818EE44D}"/>
              </a:ext>
            </a:extLst>
          </p:cNvPr>
          <p:cNvSpPr>
            <a:spLocks noGrp="1"/>
          </p:cNvSpPr>
          <p:nvPr>
            <p:ph idx="1"/>
          </p:nvPr>
        </p:nvSpPr>
        <p:spPr/>
        <p:txBody>
          <a:bodyPr>
            <a:normAutofit/>
          </a:bodyPr>
          <a:lstStyle/>
          <a:p>
            <a:pPr>
              <a:buFont typeface="Wingdings" panose="05000000000000000000" pitchFamily="2" charset="2"/>
              <a:buChar char="§"/>
            </a:pPr>
            <a:r>
              <a:rPr lang="en-US" sz="2000" dirty="0"/>
              <a:t>The dataset ‘Breast Cancer METABRIC.csv’ contains clinical and survival-related information of breast cancer patients and is used to analyze survival patterns and predict 10-year mortality risk.</a:t>
            </a:r>
          </a:p>
          <a:p>
            <a:pPr>
              <a:buFont typeface="Wingdings" panose="05000000000000000000" pitchFamily="2" charset="2"/>
              <a:buChar char="§"/>
            </a:pPr>
            <a:r>
              <a:rPr lang="en-US" sz="2000" dirty="0"/>
              <a:t>The dataset consists of approximately </a:t>
            </a:r>
            <a:r>
              <a:rPr lang="en-US" sz="2000" b="1" dirty="0"/>
              <a:t>2,509 patient records and 34 clinical and molecular features</a:t>
            </a:r>
            <a:r>
              <a:rPr lang="en-US" sz="2000" dirty="0"/>
              <a:t> collected from real-world breast cancer cases. It includes important medical, tumor, and survival-related information that helps in understanding how different clinical factors influence patient survival outcomes.</a:t>
            </a:r>
          </a:p>
          <a:p>
            <a:pPr>
              <a:buFont typeface="Wingdings" panose="05000000000000000000" pitchFamily="2" charset="2"/>
              <a:buChar char="§"/>
            </a:pPr>
            <a:r>
              <a:rPr lang="en-IN" sz="2000" dirty="0"/>
              <a:t>Some of the important features used in the analysis include Age at Diagnosis, </a:t>
            </a:r>
            <a:r>
              <a:rPr lang="en-IN" sz="2000" dirty="0" err="1"/>
              <a:t>Tumor</a:t>
            </a:r>
            <a:r>
              <a:rPr lang="en-IN" sz="2000" dirty="0"/>
              <a:t> Size, Mutation Count, Nottingham Prognostic Index, Lymph Nodes Examined Positive, PAM50 + Claudin-low Subtype, Integrative Cluster, Cellularity, Overall Survival (Months), and Survival Event Status.</a:t>
            </a:r>
          </a:p>
          <a:p>
            <a:pPr>
              <a:buFont typeface="Wingdings" panose="05000000000000000000" pitchFamily="2" charset="2"/>
              <a:buChar char="§"/>
            </a:pPr>
            <a:r>
              <a:rPr lang="en-US" sz="2000" dirty="0"/>
              <a:t>The dataset also contains survival information that helps in performing survival analysis and building machine learning models for mortality prediction. These insights can support better treatment planning, patient counselling, and overall cancer care strategies.</a:t>
            </a:r>
            <a:endParaRPr lang="en-IN" sz="2000" dirty="0"/>
          </a:p>
        </p:txBody>
      </p:sp>
    </p:spTree>
    <p:extLst>
      <p:ext uri="{BB962C8B-B14F-4D97-AF65-F5344CB8AC3E}">
        <p14:creationId xmlns:p14="http://schemas.microsoft.com/office/powerpoint/2010/main" val="1203064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14A8-1E8F-EFF6-73C0-1530ECB4627E}"/>
              </a:ext>
            </a:extLst>
          </p:cNvPr>
          <p:cNvSpPr>
            <a:spLocks noGrp="1"/>
          </p:cNvSpPr>
          <p:nvPr>
            <p:ph type="title"/>
          </p:nvPr>
        </p:nvSpPr>
        <p:spPr/>
        <p:txBody>
          <a:bodyPr/>
          <a:lstStyle/>
          <a:p>
            <a:r>
              <a:rPr lang="en-IN" dirty="0"/>
              <a:t>Data Preprocessing</a:t>
            </a:r>
          </a:p>
        </p:txBody>
      </p:sp>
      <p:sp>
        <p:nvSpPr>
          <p:cNvPr id="3" name="Content Placeholder 2">
            <a:extLst>
              <a:ext uri="{FF2B5EF4-FFF2-40B4-BE49-F238E27FC236}">
                <a16:creationId xmlns:a16="http://schemas.microsoft.com/office/drawing/2014/main" id="{E49A93D0-412F-EE61-6C53-1BFCBD9D7ABF}"/>
              </a:ext>
            </a:extLst>
          </p:cNvPr>
          <p:cNvSpPr>
            <a:spLocks noGrp="1"/>
          </p:cNvSpPr>
          <p:nvPr>
            <p:ph idx="1"/>
          </p:nvPr>
        </p:nvSpPr>
        <p:spPr/>
        <p:txBody>
          <a:bodyPr>
            <a:normAutofit fontScale="92500" lnSpcReduction="10000"/>
          </a:bodyPr>
          <a:lstStyle/>
          <a:p>
            <a:r>
              <a:rPr lang="en-US" sz="2000" dirty="0"/>
              <a:t>The dataset was cleaned and prepared before performing survival analysis and machine learning modeling. Missing values in numerical columns were handled using the </a:t>
            </a:r>
            <a:r>
              <a:rPr lang="en-US" sz="2000" b="1" dirty="0"/>
              <a:t>Simple Imputer</a:t>
            </a:r>
            <a:r>
              <a:rPr lang="en-US" sz="2000" dirty="0"/>
              <a:t> with median values, while categorical missing values were filled using the most frequent category.</a:t>
            </a:r>
          </a:p>
          <a:p>
            <a:r>
              <a:rPr lang="en-US" sz="2000" dirty="0"/>
              <a:t>Duplicate records and inconsistent values were checked during preprocessing to improve data quality and model reliability.</a:t>
            </a:r>
          </a:p>
          <a:p>
            <a:r>
              <a:rPr lang="en-US" sz="2000" dirty="0"/>
              <a:t>As part of feature engineering, object-type categorical features such as cancer subtypes and integrative clusters were converted into numerical format using </a:t>
            </a:r>
            <a:r>
              <a:rPr lang="en-US" sz="2000" b="1" dirty="0"/>
              <a:t>Label Encoding</a:t>
            </a:r>
            <a:r>
              <a:rPr lang="en-US" sz="2000" dirty="0"/>
              <a:t> to prepare the data for machine learning models.</a:t>
            </a:r>
          </a:p>
          <a:p>
            <a:r>
              <a:rPr lang="en-US" sz="2000" dirty="0"/>
              <a:t>The survival-related columns, including </a:t>
            </a:r>
            <a:r>
              <a:rPr lang="en-US" sz="2000" b="1" dirty="0"/>
              <a:t>Overall Survival (Months)</a:t>
            </a:r>
            <a:r>
              <a:rPr lang="en-US" sz="2000" dirty="0"/>
              <a:t> and </a:t>
            </a:r>
            <a:r>
              <a:rPr lang="en-US" sz="2000" b="1" dirty="0"/>
              <a:t>Event Status</a:t>
            </a:r>
            <a:r>
              <a:rPr lang="en-US" sz="2000" dirty="0"/>
              <a:t>, were properly formatted for survival analysis using the Cox Proportional Hazards Model.</a:t>
            </a:r>
          </a:p>
          <a:p>
            <a:r>
              <a:rPr lang="en-US" sz="2000" dirty="0"/>
              <a:t>Correlation analysis was performed after preprocessing to identify relationships between clinical variables and remove unnecessary dependencies between features.</a:t>
            </a:r>
          </a:p>
          <a:p>
            <a:r>
              <a:rPr lang="en-US" sz="2000" dirty="0"/>
              <a:t>The dataset was finally divided into </a:t>
            </a:r>
            <a:r>
              <a:rPr lang="en-US" sz="2000" b="1" dirty="0"/>
              <a:t>feature variables (X)</a:t>
            </a:r>
            <a:r>
              <a:rPr lang="en-US" sz="2000" dirty="0"/>
              <a:t> and </a:t>
            </a:r>
            <a:r>
              <a:rPr lang="en-US" sz="2000" b="1" dirty="0"/>
              <a:t>target variable (y)</a:t>
            </a:r>
            <a:r>
              <a:rPr lang="en-US" sz="2000" dirty="0"/>
              <a:t> for mortality prediction modeling.</a:t>
            </a:r>
          </a:p>
          <a:p>
            <a:r>
              <a:rPr lang="en-US" sz="2000" dirty="0"/>
              <a:t>Data preprocessing helped improve data quality, maintain consistency, and enhance model performance..</a:t>
            </a:r>
          </a:p>
          <a:p>
            <a:endParaRPr lang="en-IN" sz="2000" dirty="0"/>
          </a:p>
        </p:txBody>
      </p:sp>
    </p:spTree>
    <p:extLst>
      <p:ext uri="{BB962C8B-B14F-4D97-AF65-F5344CB8AC3E}">
        <p14:creationId xmlns:p14="http://schemas.microsoft.com/office/powerpoint/2010/main" val="320133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C10F6-99DC-4C5E-10F6-2C4942DAC4E3}"/>
              </a:ext>
            </a:extLst>
          </p:cNvPr>
          <p:cNvSpPr>
            <a:spLocks noGrp="1"/>
          </p:cNvSpPr>
          <p:nvPr>
            <p:ph type="title"/>
          </p:nvPr>
        </p:nvSpPr>
        <p:spPr/>
        <p:txBody>
          <a:bodyPr/>
          <a:lstStyle/>
          <a:p>
            <a:r>
              <a:rPr lang="en-IN" dirty="0"/>
              <a:t>Exploratory Data Analysis (EDA)</a:t>
            </a:r>
          </a:p>
        </p:txBody>
      </p:sp>
      <p:sp>
        <p:nvSpPr>
          <p:cNvPr id="3" name="Content Placeholder 2">
            <a:extLst>
              <a:ext uri="{FF2B5EF4-FFF2-40B4-BE49-F238E27FC236}">
                <a16:creationId xmlns:a16="http://schemas.microsoft.com/office/drawing/2014/main" id="{5B67B224-416E-0D57-D3B7-CDB8BB86B3EB}"/>
              </a:ext>
            </a:extLst>
          </p:cNvPr>
          <p:cNvSpPr>
            <a:spLocks noGrp="1"/>
          </p:cNvSpPr>
          <p:nvPr>
            <p:ph idx="1"/>
          </p:nvPr>
        </p:nvSpPr>
        <p:spPr/>
        <p:txBody>
          <a:bodyPr>
            <a:normAutofit/>
          </a:bodyPr>
          <a:lstStyle/>
          <a:p>
            <a:r>
              <a:rPr lang="en-US" sz="2000" dirty="0"/>
              <a:t>Exploratory Data Analysis was performed to better understand the dataset and identify the key factors affecting breast cancer survival and mortality risk.</a:t>
            </a:r>
          </a:p>
          <a:p>
            <a:r>
              <a:rPr lang="en-US" sz="2000" dirty="0"/>
              <a:t>Different visualizations such as age distribution plots, tumor size analysis, survival status distribution, correlation heatmaps, and mutation count analysis were used during the analysis. The EDA showed that features such as </a:t>
            </a:r>
            <a:r>
              <a:rPr lang="en-US" sz="2000" b="1" dirty="0"/>
              <a:t>Age at Diagnosis, Tumor Size, Nottingham Prognostic Index, Mutation Count, and Lymph Nodes Examined Positive</a:t>
            </a:r>
            <a:r>
              <a:rPr lang="en-US" sz="2000" dirty="0"/>
              <a:t> had a strong relationship with patient survival outcomes.</a:t>
            </a:r>
          </a:p>
          <a:p>
            <a:r>
              <a:rPr lang="en-US" sz="2000" dirty="0"/>
              <a:t>The survival analysis also showed that the survival probability gradually decreased over time, highlighting the impact of clinical and molecular factors on long-term patient survival.</a:t>
            </a:r>
          </a:p>
          <a:p>
            <a:r>
              <a:rPr lang="en-US" sz="2000" dirty="0"/>
              <a:t>EDA helped in selecting important features for model development and provided better insights before performing survival analysis and machine learning modeling.</a:t>
            </a:r>
          </a:p>
        </p:txBody>
      </p:sp>
    </p:spTree>
    <p:extLst>
      <p:ext uri="{BB962C8B-B14F-4D97-AF65-F5344CB8AC3E}">
        <p14:creationId xmlns:p14="http://schemas.microsoft.com/office/powerpoint/2010/main" val="608451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normAutofit/>
          </a:bodyPr>
          <a:lstStyle/>
          <a:p>
            <a:r>
              <a:rPr lang="en-IN" sz="2800" dirty="0"/>
              <a:t>Visualizations Used</a:t>
            </a:r>
          </a:p>
        </p:txBody>
      </p:sp>
      <p:sp>
        <p:nvSpPr>
          <p:cNvPr id="3" name="Content Placeholder 2">
            <a:extLst>
              <a:ext uri="{FF2B5EF4-FFF2-40B4-BE49-F238E27FC236}">
                <a16:creationId xmlns:a16="http://schemas.microsoft.com/office/drawing/2014/main" id="{E152D885-3443-E543-22D3-5C88FB4FECC3}"/>
              </a:ext>
            </a:extLst>
          </p:cNvPr>
          <p:cNvSpPr>
            <a:spLocks noGrp="1" noChangeArrowheads="1"/>
          </p:cNvSpPr>
          <p:nvPr>
            <p:ph idx="1"/>
          </p:nvPr>
        </p:nvSpPr>
        <p:spPr bwMode="auto">
          <a:xfrm>
            <a:off x="678881" y="845024"/>
            <a:ext cx="4321136" cy="337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mn-lt"/>
              </a:rPr>
              <a:t>Age Distribution Analysis </a:t>
            </a:r>
          </a:p>
          <a:p>
            <a:pPr marL="0" indent="0" eaLnBrk="0" fontAlgn="base" hangingPunct="0">
              <a:lnSpc>
                <a:spcPct val="150000"/>
              </a:lnSpc>
              <a:spcBef>
                <a:spcPct val="0"/>
              </a:spcBef>
              <a:spcAft>
                <a:spcPct val="0"/>
              </a:spcAft>
              <a:buFontTx/>
              <a:buChar char="•"/>
            </a:pPr>
            <a:r>
              <a:rPr lang="en-IN" sz="1800" dirty="0"/>
              <a:t>Patient Vital Status Interpretation</a:t>
            </a:r>
            <a:endParaRPr lang="en-US" altLang="en-US" sz="1800" dirty="0">
              <a:solidFill>
                <a:schemeClr val="tx1"/>
              </a:solidFill>
              <a:latin typeface="Arial" panose="020B0604020202020204" pitchFamily="34" charset="0"/>
            </a:endParaRPr>
          </a:p>
          <a:p>
            <a:pPr marL="0" indent="0" eaLnBrk="0" fontAlgn="base" hangingPunct="0">
              <a:lnSpc>
                <a:spcPct val="150000"/>
              </a:lnSpc>
              <a:spcBef>
                <a:spcPct val="0"/>
              </a:spcBef>
              <a:spcAft>
                <a:spcPct val="0"/>
              </a:spcAft>
              <a:buFontTx/>
              <a:buChar char="•"/>
            </a:pPr>
            <a:r>
              <a:rPr lang="en-IN" sz="1800" dirty="0" err="1"/>
              <a:t>Tumor</a:t>
            </a:r>
            <a:r>
              <a:rPr lang="en-IN" sz="1800" dirty="0"/>
              <a:t> Stage Distribution</a:t>
            </a:r>
          </a:p>
          <a:p>
            <a:pPr marL="0" indent="0" eaLnBrk="0" fontAlgn="base" hangingPunct="0">
              <a:lnSpc>
                <a:spcPct val="150000"/>
              </a:lnSpc>
              <a:spcBef>
                <a:spcPct val="0"/>
              </a:spcBef>
              <a:spcAft>
                <a:spcPct val="0"/>
              </a:spcAft>
              <a:buFontTx/>
              <a:buChar char="•"/>
            </a:pPr>
            <a:r>
              <a:rPr lang="en-IN" sz="1800" dirty="0" err="1"/>
              <a:t>Tumor</a:t>
            </a:r>
            <a:r>
              <a:rPr lang="en-IN" sz="1800" dirty="0"/>
              <a:t> Size Distribution</a:t>
            </a:r>
          </a:p>
          <a:p>
            <a:pPr marL="0" indent="0" eaLnBrk="0" fontAlgn="base" hangingPunct="0">
              <a:lnSpc>
                <a:spcPct val="150000"/>
              </a:lnSpc>
              <a:spcBef>
                <a:spcPct val="0"/>
              </a:spcBef>
              <a:spcAft>
                <a:spcPct val="0"/>
              </a:spcAft>
              <a:buFontTx/>
              <a:buChar char="•"/>
            </a:pPr>
            <a:r>
              <a:rPr lang="en-IN" sz="1800" dirty="0"/>
              <a:t>Correlation Heatmap</a:t>
            </a:r>
          </a:p>
          <a:p>
            <a:pPr marL="0" indent="0" eaLnBrk="0" fontAlgn="base" hangingPunct="0">
              <a:lnSpc>
                <a:spcPct val="150000"/>
              </a:lnSpc>
              <a:spcBef>
                <a:spcPct val="0"/>
              </a:spcBef>
              <a:spcAft>
                <a:spcPct val="0"/>
              </a:spcAft>
              <a:buFontTx/>
              <a:buChar char="•"/>
            </a:pPr>
            <a:r>
              <a:rPr lang="en-US" sz="1800" dirty="0"/>
              <a:t>Age at Diagnosis and Survival Status</a:t>
            </a:r>
          </a:p>
          <a:p>
            <a:pPr marL="0" indent="0" eaLnBrk="0" fontAlgn="base" hangingPunct="0">
              <a:lnSpc>
                <a:spcPct val="150000"/>
              </a:lnSpc>
              <a:spcBef>
                <a:spcPct val="0"/>
              </a:spcBef>
              <a:spcAft>
                <a:spcPct val="0"/>
              </a:spcAft>
              <a:buFontTx/>
              <a:buChar char="•"/>
            </a:pPr>
            <a:r>
              <a:rPr lang="en-IN" sz="1800" dirty="0"/>
              <a:t>Chemotherapy Analysis</a:t>
            </a:r>
          </a:p>
        </p:txBody>
      </p:sp>
      <p:pic>
        <p:nvPicPr>
          <p:cNvPr id="7" name="Picture 6">
            <a:extLst>
              <a:ext uri="{FF2B5EF4-FFF2-40B4-BE49-F238E27FC236}">
                <a16:creationId xmlns:a16="http://schemas.microsoft.com/office/drawing/2014/main" id="{E53178A0-F628-927E-0320-11CA08E08AB1}"/>
              </a:ext>
            </a:extLst>
          </p:cNvPr>
          <p:cNvPicPr>
            <a:picLocks noChangeAspect="1"/>
          </p:cNvPicPr>
          <p:nvPr/>
        </p:nvPicPr>
        <p:blipFill>
          <a:blip r:embed="rId2"/>
          <a:stretch>
            <a:fillRect/>
          </a:stretch>
        </p:blipFill>
        <p:spPr>
          <a:xfrm>
            <a:off x="6503420" y="158463"/>
            <a:ext cx="3749533" cy="2191466"/>
          </a:xfrm>
          <a:prstGeom prst="rect">
            <a:avLst/>
          </a:prstGeom>
        </p:spPr>
      </p:pic>
      <p:pic>
        <p:nvPicPr>
          <p:cNvPr id="12" name="Picture 11">
            <a:extLst>
              <a:ext uri="{FF2B5EF4-FFF2-40B4-BE49-F238E27FC236}">
                <a16:creationId xmlns:a16="http://schemas.microsoft.com/office/drawing/2014/main" id="{AB3DA27A-C1C6-AA6F-8123-2EE1D94B76F5}"/>
              </a:ext>
            </a:extLst>
          </p:cNvPr>
          <p:cNvPicPr>
            <a:picLocks noChangeAspect="1"/>
          </p:cNvPicPr>
          <p:nvPr/>
        </p:nvPicPr>
        <p:blipFill>
          <a:blip r:embed="rId3"/>
          <a:stretch>
            <a:fillRect/>
          </a:stretch>
        </p:blipFill>
        <p:spPr>
          <a:xfrm>
            <a:off x="6550921" y="2531703"/>
            <a:ext cx="3654529" cy="2429311"/>
          </a:xfrm>
          <a:prstGeom prst="rect">
            <a:avLst/>
          </a:prstGeom>
        </p:spPr>
      </p:pic>
      <p:sp>
        <p:nvSpPr>
          <p:cNvPr id="14" name="Rectangle 4">
            <a:extLst>
              <a:ext uri="{FF2B5EF4-FFF2-40B4-BE49-F238E27FC236}">
                <a16:creationId xmlns:a16="http://schemas.microsoft.com/office/drawing/2014/main" id="{FCD9CAA0-A2C9-106A-4239-38BD077D245A}"/>
              </a:ext>
            </a:extLst>
          </p:cNvPr>
          <p:cNvSpPr>
            <a:spLocks noChangeArrowheads="1"/>
          </p:cNvSpPr>
          <p:nvPr/>
        </p:nvSpPr>
        <p:spPr bwMode="auto">
          <a:xfrm>
            <a:off x="6503419" y="5142788"/>
            <a:ext cx="5237865" cy="80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800" b="0" i="0" u="none" strike="noStrike" cap="none" normalizeH="0" baseline="0" dirty="0">
                <a:ln>
                  <a:noFill/>
                </a:ln>
                <a:solidFill>
                  <a:schemeClr val="bg1"/>
                </a:solidFill>
                <a:effectLst/>
                <a:latin typeface="Arial" panose="020B0604020202020204" pitchFamily="34" charset="0"/>
              </a:rPr>
              <a:t>Key insights: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800" b="0" i="0" u="none" strike="noStrike" cap="none" normalizeH="0" baseline="0" dirty="0">
                <a:ln>
                  <a:noFill/>
                </a:ln>
                <a:solidFill>
                  <a:schemeClr val="bg1"/>
                </a:solidFill>
                <a:effectLst/>
                <a:latin typeface="Arial" panose="020B0604020202020204" pitchFamily="34" charset="0"/>
              </a:rPr>
              <a:t>Most patients were diagnosed between the ages of 50–70.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800" b="0" i="0" u="none" strike="noStrike" cap="none" normalizeH="0" baseline="0" dirty="0">
                <a:ln>
                  <a:noFill/>
                </a:ln>
                <a:solidFill>
                  <a:schemeClr val="bg1"/>
                </a:solidFill>
                <a:effectLst/>
                <a:latin typeface="Arial" panose="020B0604020202020204" pitchFamily="34" charset="0"/>
              </a:rPr>
              <a:t>A higher number of patients were recorded as living compared to deceased cases.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800" b="0" i="0" u="none" strike="noStrike" cap="none" normalizeH="0" baseline="0" dirty="0">
                <a:ln>
                  <a:noFill/>
                </a:ln>
                <a:solidFill>
                  <a:schemeClr val="bg1"/>
                </a:solidFill>
                <a:effectLst/>
                <a:latin typeface="Arial" panose="020B0604020202020204" pitchFamily="34" charset="0"/>
              </a:rPr>
              <a:t>Patient age and survival status showed noticeable variation across the dataset. </a:t>
            </a:r>
          </a:p>
        </p:txBody>
      </p:sp>
    </p:spTree>
    <p:extLst>
      <p:ext uri="{BB962C8B-B14F-4D97-AF65-F5344CB8AC3E}">
        <p14:creationId xmlns:p14="http://schemas.microsoft.com/office/powerpoint/2010/main" val="1344420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D71611-FD31-8ECF-C81C-18AD36119C53}"/>
              </a:ext>
            </a:extLst>
          </p:cNvPr>
          <p:cNvPicPr>
            <a:picLocks noChangeAspect="1"/>
          </p:cNvPicPr>
          <p:nvPr/>
        </p:nvPicPr>
        <p:blipFill>
          <a:blip r:embed="rId2"/>
          <a:stretch>
            <a:fillRect/>
          </a:stretch>
        </p:blipFill>
        <p:spPr>
          <a:xfrm>
            <a:off x="185371" y="1147042"/>
            <a:ext cx="5696530" cy="3541690"/>
          </a:xfrm>
          <a:prstGeom prst="rect">
            <a:avLst/>
          </a:prstGeom>
        </p:spPr>
      </p:pic>
      <p:pic>
        <p:nvPicPr>
          <p:cNvPr id="7" name="Picture 6">
            <a:extLst>
              <a:ext uri="{FF2B5EF4-FFF2-40B4-BE49-F238E27FC236}">
                <a16:creationId xmlns:a16="http://schemas.microsoft.com/office/drawing/2014/main" id="{6A3881EC-2AC4-797E-F39F-AFB3C7D13657}"/>
              </a:ext>
            </a:extLst>
          </p:cNvPr>
          <p:cNvPicPr>
            <a:picLocks noChangeAspect="1"/>
          </p:cNvPicPr>
          <p:nvPr/>
        </p:nvPicPr>
        <p:blipFill>
          <a:blip r:embed="rId3"/>
          <a:stretch>
            <a:fillRect/>
          </a:stretch>
        </p:blipFill>
        <p:spPr>
          <a:xfrm>
            <a:off x="6203666" y="1147042"/>
            <a:ext cx="5734869" cy="3541689"/>
          </a:xfrm>
          <a:prstGeom prst="rect">
            <a:avLst/>
          </a:prstGeom>
        </p:spPr>
      </p:pic>
      <p:sp>
        <p:nvSpPr>
          <p:cNvPr id="8" name="TextBox 7">
            <a:extLst>
              <a:ext uri="{FF2B5EF4-FFF2-40B4-BE49-F238E27FC236}">
                <a16:creationId xmlns:a16="http://schemas.microsoft.com/office/drawing/2014/main" id="{CF7BA8DF-AC56-C244-9F50-5BB20A7E0D57}"/>
              </a:ext>
            </a:extLst>
          </p:cNvPr>
          <p:cNvSpPr txBox="1"/>
          <p:nvPr/>
        </p:nvSpPr>
        <p:spPr>
          <a:xfrm>
            <a:off x="185371" y="4902741"/>
            <a:ext cx="8520884" cy="1169551"/>
          </a:xfrm>
          <a:prstGeom prst="rect">
            <a:avLst/>
          </a:prstGeom>
          <a:noFill/>
        </p:spPr>
        <p:txBody>
          <a:bodyPr wrap="square" rtlCol="0">
            <a:spAutoFit/>
          </a:bodyPr>
          <a:lstStyle/>
          <a:p>
            <a:r>
              <a:rPr lang="en-US" sz="1400" b="1" dirty="0"/>
              <a:t>Key Insights</a:t>
            </a:r>
          </a:p>
          <a:p>
            <a:pPr marL="285750" indent="-285750">
              <a:buFont typeface="Arial" panose="020B0604020202020204" pitchFamily="34" charset="0"/>
              <a:buChar char="•"/>
            </a:pPr>
            <a:r>
              <a:rPr lang="en-US" sz="1400" dirty="0"/>
              <a:t>Higher tumor stages were associated with increased mortality risk. </a:t>
            </a:r>
          </a:p>
          <a:p>
            <a:pPr marL="285750" indent="-285750">
              <a:buFont typeface="Arial" panose="020B0604020202020204" pitchFamily="34" charset="0"/>
              <a:buChar char="•"/>
            </a:pPr>
            <a:r>
              <a:rPr lang="en-US" sz="1400" dirty="0"/>
              <a:t>Larger tumor sizes showed stronger impact on patient survival. </a:t>
            </a:r>
          </a:p>
          <a:p>
            <a:pPr marL="285750" indent="-285750">
              <a:buFont typeface="Arial" panose="020B0604020202020204" pitchFamily="34" charset="0"/>
              <a:buChar char="•"/>
            </a:pPr>
            <a:r>
              <a:rPr lang="en-US" sz="1400" dirty="0"/>
              <a:t>Tumor-related features played an important role in prediction modeling.</a:t>
            </a:r>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1279417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B8FAF-E795-B0B1-9C8D-737D8FCE5E63}"/>
              </a:ext>
            </a:extLst>
          </p:cNvPr>
          <p:cNvSpPr>
            <a:spLocks noGrp="1"/>
          </p:cNvSpPr>
          <p:nvPr>
            <p:ph type="title"/>
          </p:nvPr>
        </p:nvSpPr>
        <p:spPr/>
        <p:txBody>
          <a:bodyPr>
            <a:normAutofit fontScale="90000"/>
          </a:bodyPr>
          <a:lstStyle/>
          <a:p>
            <a:r>
              <a:rPr lang="en-IN" dirty="0"/>
              <a:t>Correlation Heatmap Analysis</a:t>
            </a:r>
          </a:p>
        </p:txBody>
      </p:sp>
      <p:sp>
        <p:nvSpPr>
          <p:cNvPr id="3" name="Content Placeholder 2">
            <a:extLst>
              <a:ext uri="{FF2B5EF4-FFF2-40B4-BE49-F238E27FC236}">
                <a16:creationId xmlns:a16="http://schemas.microsoft.com/office/drawing/2014/main" id="{8540E782-6E47-5168-8E96-14F1AA09E311}"/>
              </a:ext>
            </a:extLst>
          </p:cNvPr>
          <p:cNvSpPr>
            <a:spLocks noGrp="1"/>
          </p:cNvSpPr>
          <p:nvPr>
            <p:ph idx="1"/>
          </p:nvPr>
        </p:nvSpPr>
        <p:spPr>
          <a:xfrm>
            <a:off x="678880" y="1368006"/>
            <a:ext cx="5107239" cy="4398066"/>
          </a:xfrm>
        </p:spPr>
        <p:txBody>
          <a:bodyPr>
            <a:normAutofit/>
          </a:bodyPr>
          <a:lstStyle/>
          <a:p>
            <a:pPr marL="0" indent="0">
              <a:buNone/>
            </a:pPr>
            <a:r>
              <a:rPr lang="en-US" sz="1400" dirty="0"/>
              <a:t>A correlation heatmap was used to understand the relationship between different clinical and survival-related features in the dataset. The analysis helped identify which features had stronger connections with survival outcomes and mortality risk.</a:t>
            </a:r>
          </a:p>
          <a:p>
            <a:pPr marL="0" indent="0">
              <a:buNone/>
            </a:pPr>
            <a:r>
              <a:rPr lang="en-US" sz="1400" dirty="0"/>
              <a:t>From the analysis, </a:t>
            </a:r>
            <a:r>
              <a:rPr lang="en-US" sz="1400" b="1" dirty="0"/>
              <a:t>Overall Survival (Months)</a:t>
            </a:r>
            <a:r>
              <a:rPr lang="en-US" sz="1400" dirty="0"/>
              <a:t> and </a:t>
            </a:r>
            <a:r>
              <a:rPr lang="en-US" sz="1400" b="1" dirty="0"/>
              <a:t>Relapse Free Status (Months)</a:t>
            </a:r>
            <a:r>
              <a:rPr lang="en-US" sz="1400" dirty="0"/>
              <a:t> showed a strong positive correlation, indicating that patients with longer relapse-free periods also tended to have higher overall survival durations.</a:t>
            </a:r>
          </a:p>
          <a:p>
            <a:pPr marL="0" indent="0">
              <a:buNone/>
            </a:pPr>
            <a:r>
              <a:rPr lang="en-US" sz="1400" dirty="0"/>
              <a:t>The heatmap also showed that features such as </a:t>
            </a:r>
            <a:r>
              <a:rPr lang="en-US" sz="1400" b="1" dirty="0"/>
              <a:t>Age at Diagnosis, Nottingham Prognostic Index, Tumor Stage, Tumor Size, and Lymph Nodes Examined Positive</a:t>
            </a:r>
            <a:r>
              <a:rPr lang="en-US" sz="1400" dirty="0"/>
              <a:t> had noticeable relationships with survival-related variables. Age at Diagnosis showed a negative relationship with survival duration, indicating that higher age may be associated with lower survival outcomes.</a:t>
            </a:r>
          </a:p>
          <a:p>
            <a:pPr marL="0" indent="0">
              <a:buNone/>
            </a:pPr>
            <a:r>
              <a:rPr lang="en-US" sz="1400" dirty="0"/>
              <a:t>This analysis helped in selecting important features for survival analysis and machine learning model development.</a:t>
            </a:r>
          </a:p>
          <a:p>
            <a:pPr marL="0" indent="0">
              <a:buNone/>
            </a:pPr>
            <a:endParaRPr lang="en-IN" sz="1400" dirty="0"/>
          </a:p>
        </p:txBody>
      </p:sp>
      <p:pic>
        <p:nvPicPr>
          <p:cNvPr id="5" name="Picture 4">
            <a:extLst>
              <a:ext uri="{FF2B5EF4-FFF2-40B4-BE49-F238E27FC236}">
                <a16:creationId xmlns:a16="http://schemas.microsoft.com/office/drawing/2014/main" id="{FD8203DA-05DF-4263-1C09-60E947D4D03C}"/>
              </a:ext>
            </a:extLst>
          </p:cNvPr>
          <p:cNvPicPr>
            <a:picLocks noChangeAspect="1"/>
          </p:cNvPicPr>
          <p:nvPr/>
        </p:nvPicPr>
        <p:blipFill>
          <a:blip r:embed="rId2"/>
          <a:stretch>
            <a:fillRect/>
          </a:stretch>
        </p:blipFill>
        <p:spPr>
          <a:xfrm>
            <a:off x="6383064" y="292762"/>
            <a:ext cx="5130055" cy="4268578"/>
          </a:xfrm>
          <a:prstGeom prst="rect">
            <a:avLst/>
          </a:prstGeom>
        </p:spPr>
      </p:pic>
      <p:sp>
        <p:nvSpPr>
          <p:cNvPr id="7" name="TextBox 6">
            <a:extLst>
              <a:ext uri="{FF2B5EF4-FFF2-40B4-BE49-F238E27FC236}">
                <a16:creationId xmlns:a16="http://schemas.microsoft.com/office/drawing/2014/main" id="{7DFA8058-31BF-FADF-6077-485773ADBDEC}"/>
              </a:ext>
            </a:extLst>
          </p:cNvPr>
          <p:cNvSpPr txBox="1"/>
          <p:nvPr/>
        </p:nvSpPr>
        <p:spPr>
          <a:xfrm>
            <a:off x="6590489" y="4750409"/>
            <a:ext cx="5519574" cy="1015663"/>
          </a:xfrm>
          <a:prstGeom prst="rect">
            <a:avLst/>
          </a:prstGeom>
          <a:noFill/>
        </p:spPr>
        <p:txBody>
          <a:bodyPr wrap="square">
            <a:spAutoFit/>
          </a:bodyPr>
          <a:lstStyle/>
          <a:p>
            <a:pPr>
              <a:buNone/>
            </a:pPr>
            <a:r>
              <a:rPr lang="en-US" sz="1200" b="1" dirty="0">
                <a:solidFill>
                  <a:schemeClr val="bg1"/>
                </a:solidFill>
              </a:rPr>
              <a:t>Key Insights</a:t>
            </a:r>
          </a:p>
          <a:p>
            <a:pPr>
              <a:buFont typeface="Arial" panose="020B0604020202020204" pitchFamily="34" charset="0"/>
              <a:buChar char="•"/>
            </a:pPr>
            <a:r>
              <a:rPr lang="en-US" sz="1200" dirty="0">
                <a:solidFill>
                  <a:schemeClr val="bg1"/>
                </a:solidFill>
              </a:rPr>
              <a:t>Overall Survival and Relapse Free Status showed strong positive correlation. </a:t>
            </a:r>
          </a:p>
          <a:p>
            <a:pPr>
              <a:buFont typeface="Arial" panose="020B0604020202020204" pitchFamily="34" charset="0"/>
              <a:buChar char="•"/>
            </a:pPr>
            <a:r>
              <a:rPr lang="en-US" sz="1200" dirty="0">
                <a:solidFill>
                  <a:schemeClr val="bg1"/>
                </a:solidFill>
              </a:rPr>
              <a:t>Higher Age at Diagnosis showed lower survival tendency. </a:t>
            </a:r>
          </a:p>
          <a:p>
            <a:pPr>
              <a:buFont typeface="Arial" panose="020B0604020202020204" pitchFamily="34" charset="0"/>
              <a:buChar char="•"/>
            </a:pPr>
            <a:r>
              <a:rPr lang="en-US" sz="1200" dirty="0">
                <a:solidFill>
                  <a:schemeClr val="bg1"/>
                </a:solidFill>
              </a:rPr>
              <a:t>Tumor Stage and Tumor Size were positively related to cancer severity. </a:t>
            </a:r>
          </a:p>
          <a:p>
            <a:pPr>
              <a:buFont typeface="Arial" panose="020B0604020202020204" pitchFamily="34" charset="0"/>
              <a:buChar char="•"/>
            </a:pPr>
            <a:r>
              <a:rPr lang="en-US" sz="1200" dirty="0">
                <a:solidFill>
                  <a:schemeClr val="bg1"/>
                </a:solidFill>
              </a:rPr>
              <a:t>Correlation analysis helped identify important variables for prediction modeling.</a:t>
            </a:r>
          </a:p>
        </p:txBody>
      </p:sp>
    </p:spTree>
    <p:extLst>
      <p:ext uri="{BB962C8B-B14F-4D97-AF65-F5344CB8AC3E}">
        <p14:creationId xmlns:p14="http://schemas.microsoft.com/office/powerpoint/2010/main" val="2039841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64F9A0-B2A2-9A59-DD20-E4384B9B3BDB}"/>
              </a:ext>
            </a:extLst>
          </p:cNvPr>
          <p:cNvPicPr>
            <a:picLocks noChangeAspect="1"/>
          </p:cNvPicPr>
          <p:nvPr/>
        </p:nvPicPr>
        <p:blipFill>
          <a:blip r:embed="rId2"/>
          <a:stretch>
            <a:fillRect/>
          </a:stretch>
        </p:blipFill>
        <p:spPr>
          <a:xfrm>
            <a:off x="569968" y="522050"/>
            <a:ext cx="5038698" cy="3239163"/>
          </a:xfrm>
          <a:prstGeom prst="rect">
            <a:avLst/>
          </a:prstGeom>
        </p:spPr>
      </p:pic>
      <p:pic>
        <p:nvPicPr>
          <p:cNvPr id="7" name="Picture 6">
            <a:extLst>
              <a:ext uri="{FF2B5EF4-FFF2-40B4-BE49-F238E27FC236}">
                <a16:creationId xmlns:a16="http://schemas.microsoft.com/office/drawing/2014/main" id="{274FC32B-E1EF-5178-A30D-FEEB0B84DF16}"/>
              </a:ext>
            </a:extLst>
          </p:cNvPr>
          <p:cNvPicPr>
            <a:picLocks noChangeAspect="1"/>
          </p:cNvPicPr>
          <p:nvPr/>
        </p:nvPicPr>
        <p:blipFill>
          <a:blip r:embed="rId3"/>
          <a:stretch>
            <a:fillRect/>
          </a:stretch>
        </p:blipFill>
        <p:spPr>
          <a:xfrm>
            <a:off x="6583335" y="522050"/>
            <a:ext cx="5038696" cy="3142823"/>
          </a:xfrm>
          <a:prstGeom prst="rect">
            <a:avLst/>
          </a:prstGeom>
        </p:spPr>
      </p:pic>
      <p:sp>
        <p:nvSpPr>
          <p:cNvPr id="9" name="TextBox 8">
            <a:extLst>
              <a:ext uri="{FF2B5EF4-FFF2-40B4-BE49-F238E27FC236}">
                <a16:creationId xmlns:a16="http://schemas.microsoft.com/office/drawing/2014/main" id="{CEDEB5BC-4940-B1CB-6542-37791BFDC901}"/>
              </a:ext>
            </a:extLst>
          </p:cNvPr>
          <p:cNvSpPr txBox="1"/>
          <p:nvPr/>
        </p:nvSpPr>
        <p:spPr>
          <a:xfrm>
            <a:off x="424053" y="4170712"/>
            <a:ext cx="5996201" cy="1384995"/>
          </a:xfrm>
          <a:prstGeom prst="rect">
            <a:avLst/>
          </a:prstGeom>
          <a:noFill/>
        </p:spPr>
        <p:txBody>
          <a:bodyPr wrap="square">
            <a:spAutoFit/>
          </a:bodyPr>
          <a:lstStyle/>
          <a:p>
            <a:pPr>
              <a:buNone/>
            </a:pPr>
            <a:r>
              <a:rPr lang="en-US" sz="1400" b="1" dirty="0"/>
              <a:t>Key Insights</a:t>
            </a:r>
          </a:p>
          <a:p>
            <a:pPr>
              <a:buFont typeface="Arial" panose="020B0604020202020204" pitchFamily="34" charset="0"/>
              <a:buChar char="•"/>
            </a:pPr>
            <a:r>
              <a:rPr lang="en-US" sz="1400" dirty="0"/>
              <a:t>Patients with higher age at diagnosis showed lower survival outcomes. </a:t>
            </a:r>
          </a:p>
          <a:p>
            <a:pPr>
              <a:buFont typeface="Arial" panose="020B0604020202020204" pitchFamily="34" charset="0"/>
              <a:buChar char="•"/>
            </a:pPr>
            <a:r>
              <a:rPr lang="en-US" sz="1400" dirty="0"/>
              <a:t>The deceased group had a higher median age compared to living patients. </a:t>
            </a:r>
          </a:p>
          <a:p>
            <a:pPr>
              <a:buFont typeface="Arial" panose="020B0604020202020204" pitchFamily="34" charset="0"/>
              <a:buChar char="•"/>
            </a:pPr>
            <a:r>
              <a:rPr lang="en-US" sz="1400" dirty="0"/>
              <a:t>Most patients in the dataset did not undergo chemotherapy treatment. </a:t>
            </a:r>
          </a:p>
          <a:p>
            <a:pPr>
              <a:buFont typeface="Arial" panose="020B0604020202020204" pitchFamily="34" charset="0"/>
              <a:buChar char="•"/>
            </a:pPr>
            <a:r>
              <a:rPr lang="en-US" sz="1400" dirty="0"/>
              <a:t>Age and treatment-related factors showed noticeable impact on survival patterns.</a:t>
            </a:r>
          </a:p>
        </p:txBody>
      </p:sp>
    </p:spTree>
    <p:extLst>
      <p:ext uri="{BB962C8B-B14F-4D97-AF65-F5344CB8AC3E}">
        <p14:creationId xmlns:p14="http://schemas.microsoft.com/office/powerpoint/2010/main" val="2266642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E139E-BEC8-C76D-AF01-D0F20750EFB1}"/>
              </a:ext>
            </a:extLst>
          </p:cNvPr>
          <p:cNvSpPr>
            <a:spLocks noGrp="1"/>
          </p:cNvSpPr>
          <p:nvPr>
            <p:ph type="title"/>
          </p:nvPr>
        </p:nvSpPr>
        <p:spPr/>
        <p:txBody>
          <a:bodyPr>
            <a:normAutofit fontScale="90000"/>
          </a:bodyPr>
          <a:lstStyle/>
          <a:p>
            <a:r>
              <a:rPr lang="en-IN" dirty="0"/>
              <a:t>Machine Learning Model Training</a:t>
            </a:r>
          </a:p>
        </p:txBody>
      </p:sp>
      <p:sp>
        <p:nvSpPr>
          <p:cNvPr id="3" name="Content Placeholder 2">
            <a:extLst>
              <a:ext uri="{FF2B5EF4-FFF2-40B4-BE49-F238E27FC236}">
                <a16:creationId xmlns:a16="http://schemas.microsoft.com/office/drawing/2014/main" id="{6BF15AEF-4B1D-3A6F-7755-2520464A699A}"/>
              </a:ext>
            </a:extLst>
          </p:cNvPr>
          <p:cNvSpPr>
            <a:spLocks noGrp="1"/>
          </p:cNvSpPr>
          <p:nvPr>
            <p:ph idx="1"/>
          </p:nvPr>
        </p:nvSpPr>
        <p:spPr/>
        <p:txBody>
          <a:bodyPr>
            <a:normAutofit/>
          </a:bodyPr>
          <a:lstStyle/>
          <a:p>
            <a:pPr marL="0" indent="0">
              <a:buNone/>
            </a:pPr>
            <a:r>
              <a:rPr lang="en-US" sz="1800" dirty="0"/>
              <a:t>Machine learning models were developed to predict the 10-year mortality risk of breast cancer patients using clinical and tumor-related features from the dataset.</a:t>
            </a:r>
          </a:p>
          <a:p>
            <a:pPr marL="0" indent="0">
              <a:buNone/>
            </a:pPr>
            <a:r>
              <a:rPr lang="en-US" sz="1800" dirty="0"/>
              <a:t>The dataset was divided into training and testing sets, and multiple classification algorithms were trained to compare their prediction performance. Different models were selected to understand how various machine learning approaches perform on medical survival data.</a:t>
            </a:r>
          </a:p>
          <a:p>
            <a:endParaRPr lang="en-IN" sz="1800" dirty="0"/>
          </a:p>
          <a:p>
            <a:endParaRPr lang="en-IN" sz="1800" dirty="0"/>
          </a:p>
        </p:txBody>
      </p:sp>
      <p:sp>
        <p:nvSpPr>
          <p:cNvPr id="5" name="TextBox 4">
            <a:extLst>
              <a:ext uri="{FF2B5EF4-FFF2-40B4-BE49-F238E27FC236}">
                <a16:creationId xmlns:a16="http://schemas.microsoft.com/office/drawing/2014/main" id="{5ED4756A-29E7-07C9-7079-113CC742E9C2}"/>
              </a:ext>
            </a:extLst>
          </p:cNvPr>
          <p:cNvSpPr txBox="1"/>
          <p:nvPr/>
        </p:nvSpPr>
        <p:spPr>
          <a:xfrm>
            <a:off x="6177064" y="783594"/>
            <a:ext cx="5925983" cy="3793603"/>
          </a:xfrm>
          <a:prstGeom prst="rect">
            <a:avLst/>
          </a:prstGeom>
          <a:noFill/>
        </p:spPr>
        <p:txBody>
          <a:bodyPr wrap="square">
            <a:spAutoFit/>
          </a:bodyPr>
          <a:lstStyle/>
          <a:p>
            <a:pPr>
              <a:lnSpc>
                <a:spcPct val="150000"/>
              </a:lnSpc>
            </a:pPr>
            <a:r>
              <a:rPr lang="en-US" b="1" dirty="0">
                <a:solidFill>
                  <a:schemeClr val="bg1"/>
                </a:solidFill>
              </a:rPr>
              <a:t>Models Used:</a:t>
            </a:r>
          </a:p>
          <a:p>
            <a:pPr marL="285750" indent="-285750">
              <a:lnSpc>
                <a:spcPct val="150000"/>
              </a:lnSpc>
              <a:buFont typeface="Wingdings" panose="05000000000000000000" pitchFamily="2" charset="2"/>
              <a:buChar char="§"/>
            </a:pPr>
            <a:r>
              <a:rPr lang="en-US" sz="1600" b="1" dirty="0">
                <a:solidFill>
                  <a:schemeClr val="bg1"/>
                </a:solidFill>
              </a:rPr>
              <a:t>Logistic Regression</a:t>
            </a:r>
            <a:r>
              <a:rPr lang="en-US" sz="1600" dirty="0">
                <a:solidFill>
                  <a:schemeClr val="bg1"/>
                </a:solidFill>
              </a:rPr>
              <a:t> – Used as a baseline model for binary classification and probability-based prediction. </a:t>
            </a:r>
          </a:p>
          <a:p>
            <a:pPr marL="285750" indent="-285750">
              <a:lnSpc>
                <a:spcPct val="150000"/>
              </a:lnSpc>
              <a:buFont typeface="Wingdings" panose="05000000000000000000" pitchFamily="2" charset="2"/>
              <a:buChar char="§"/>
            </a:pPr>
            <a:r>
              <a:rPr lang="en-US" sz="1600" b="1" dirty="0">
                <a:solidFill>
                  <a:schemeClr val="bg1"/>
                </a:solidFill>
              </a:rPr>
              <a:t>Decision Tree Classifier</a:t>
            </a:r>
            <a:r>
              <a:rPr lang="en-US" sz="1600" dirty="0">
                <a:solidFill>
                  <a:schemeClr val="bg1"/>
                </a:solidFill>
              </a:rPr>
              <a:t> – Used to understand feature-based decision patterns in patient survival prediction. </a:t>
            </a:r>
          </a:p>
          <a:p>
            <a:pPr marL="285750" indent="-285750">
              <a:lnSpc>
                <a:spcPct val="150000"/>
              </a:lnSpc>
              <a:buFont typeface="Wingdings" panose="05000000000000000000" pitchFamily="2" charset="2"/>
              <a:buChar char="§"/>
            </a:pPr>
            <a:r>
              <a:rPr lang="en-US" sz="1600" b="1" dirty="0">
                <a:solidFill>
                  <a:schemeClr val="bg1"/>
                </a:solidFill>
              </a:rPr>
              <a:t>Random Forest Classifier</a:t>
            </a:r>
            <a:r>
              <a:rPr lang="en-US" sz="1600" dirty="0">
                <a:solidFill>
                  <a:schemeClr val="bg1"/>
                </a:solidFill>
              </a:rPr>
              <a:t> – Used to improve prediction accuracy and reduce overfitting using ensemble learning. </a:t>
            </a:r>
          </a:p>
          <a:p>
            <a:pPr marL="285750" indent="-285750">
              <a:lnSpc>
                <a:spcPct val="150000"/>
              </a:lnSpc>
              <a:buFont typeface="Wingdings" panose="05000000000000000000" pitchFamily="2" charset="2"/>
              <a:buChar char="§"/>
            </a:pPr>
            <a:r>
              <a:rPr lang="en-US" sz="1600" b="1" dirty="0">
                <a:solidFill>
                  <a:schemeClr val="bg1"/>
                </a:solidFill>
              </a:rPr>
              <a:t>Support Vector Machine (SVM)</a:t>
            </a:r>
            <a:r>
              <a:rPr lang="en-US" sz="1600" dirty="0">
                <a:solidFill>
                  <a:schemeClr val="bg1"/>
                </a:solidFill>
              </a:rPr>
              <a:t> – Used to identify complex patterns and improve classification performance on survival-related data.</a:t>
            </a:r>
          </a:p>
        </p:txBody>
      </p:sp>
      <p:sp>
        <p:nvSpPr>
          <p:cNvPr id="7" name="TextBox 6">
            <a:extLst>
              <a:ext uri="{FF2B5EF4-FFF2-40B4-BE49-F238E27FC236}">
                <a16:creationId xmlns:a16="http://schemas.microsoft.com/office/drawing/2014/main" id="{789A97DF-7A00-52AD-E187-D956031C7A9B}"/>
              </a:ext>
            </a:extLst>
          </p:cNvPr>
          <p:cNvSpPr txBox="1"/>
          <p:nvPr/>
        </p:nvSpPr>
        <p:spPr>
          <a:xfrm>
            <a:off x="6177063" y="4800999"/>
            <a:ext cx="5846323" cy="523220"/>
          </a:xfrm>
          <a:prstGeom prst="rect">
            <a:avLst/>
          </a:prstGeom>
          <a:noFill/>
        </p:spPr>
        <p:txBody>
          <a:bodyPr wrap="square">
            <a:spAutoFit/>
          </a:bodyPr>
          <a:lstStyle/>
          <a:p>
            <a:r>
              <a:rPr lang="en-US" sz="1400" dirty="0">
                <a:solidFill>
                  <a:schemeClr val="bg1"/>
                </a:solidFill>
              </a:rPr>
              <a:t>The models were evaluated using metrics such as Accuracy, Precision, Recall, F1-Score, and ROC-AUC Score to identify the best-performing model.</a:t>
            </a:r>
            <a:endParaRPr lang="en-IN" sz="1400" dirty="0">
              <a:solidFill>
                <a:schemeClr val="bg1"/>
              </a:solidFill>
            </a:endParaRPr>
          </a:p>
        </p:txBody>
      </p:sp>
      <p:sp>
        <p:nvSpPr>
          <p:cNvPr id="9" name="TextBox 8">
            <a:extLst>
              <a:ext uri="{FF2B5EF4-FFF2-40B4-BE49-F238E27FC236}">
                <a16:creationId xmlns:a16="http://schemas.microsoft.com/office/drawing/2014/main" id="{6C5368F4-784B-158F-7E5D-5DE23B867A14}"/>
              </a:ext>
            </a:extLst>
          </p:cNvPr>
          <p:cNvSpPr txBox="1"/>
          <p:nvPr/>
        </p:nvSpPr>
        <p:spPr>
          <a:xfrm>
            <a:off x="678881" y="4690332"/>
            <a:ext cx="8185825" cy="1015663"/>
          </a:xfrm>
          <a:prstGeom prst="rect">
            <a:avLst/>
          </a:prstGeom>
          <a:noFill/>
        </p:spPr>
        <p:txBody>
          <a:bodyPr wrap="square">
            <a:spAutoFit/>
          </a:bodyPr>
          <a:lstStyle/>
          <a:p>
            <a:pPr>
              <a:buNone/>
            </a:pPr>
            <a:r>
              <a:rPr lang="en-US" sz="1200" b="1" dirty="0"/>
              <a:t>Key Insights</a:t>
            </a:r>
          </a:p>
          <a:p>
            <a:pPr>
              <a:buFont typeface="Arial" panose="020B0604020202020204" pitchFamily="34" charset="0"/>
              <a:buChar char="•"/>
            </a:pPr>
            <a:r>
              <a:rPr lang="en-US" sz="1200" dirty="0"/>
              <a:t>Multiple machine learning models were compared to improve prediction reliability. </a:t>
            </a:r>
          </a:p>
          <a:p>
            <a:pPr>
              <a:buFont typeface="Arial" panose="020B0604020202020204" pitchFamily="34" charset="0"/>
              <a:buChar char="•"/>
            </a:pPr>
            <a:r>
              <a:rPr lang="en-US" sz="1200" dirty="0"/>
              <a:t>Random Forest showed strong performance in handling complex clinical data. </a:t>
            </a:r>
          </a:p>
          <a:p>
            <a:pPr>
              <a:buFont typeface="Arial" panose="020B0604020202020204" pitchFamily="34" charset="0"/>
              <a:buChar char="•"/>
            </a:pPr>
            <a:r>
              <a:rPr lang="en-US" sz="1200" dirty="0"/>
              <a:t>SVM helped identify non-linear relationships within survival-related features. </a:t>
            </a:r>
          </a:p>
          <a:p>
            <a:pPr>
              <a:buFont typeface="Arial" panose="020B0604020202020204" pitchFamily="34" charset="0"/>
              <a:buChar char="•"/>
            </a:pPr>
            <a:r>
              <a:rPr lang="en-US" sz="1200" dirty="0"/>
              <a:t>Model comparison helped select the most effective mortality prediction model.</a:t>
            </a:r>
          </a:p>
        </p:txBody>
      </p:sp>
    </p:spTree>
    <p:extLst>
      <p:ext uri="{BB962C8B-B14F-4D97-AF65-F5344CB8AC3E}">
        <p14:creationId xmlns:p14="http://schemas.microsoft.com/office/powerpoint/2010/main" val="1751385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32185-8311-226E-DA10-D120C536ED37}"/>
              </a:ext>
            </a:extLst>
          </p:cNvPr>
          <p:cNvSpPr>
            <a:spLocks noGrp="1"/>
          </p:cNvSpPr>
          <p:nvPr>
            <p:ph type="title"/>
          </p:nvPr>
        </p:nvSpPr>
        <p:spPr/>
        <p:txBody>
          <a:bodyPr/>
          <a:lstStyle/>
          <a:p>
            <a:r>
              <a:rPr lang="en-IN" dirty="0"/>
              <a:t>Model Preparation</a:t>
            </a:r>
          </a:p>
        </p:txBody>
      </p:sp>
      <p:sp>
        <p:nvSpPr>
          <p:cNvPr id="3" name="Content Placeholder 2">
            <a:extLst>
              <a:ext uri="{FF2B5EF4-FFF2-40B4-BE49-F238E27FC236}">
                <a16:creationId xmlns:a16="http://schemas.microsoft.com/office/drawing/2014/main" id="{3E6F4D66-8498-0527-B406-BD7D28773951}"/>
              </a:ext>
            </a:extLst>
          </p:cNvPr>
          <p:cNvSpPr>
            <a:spLocks noGrp="1"/>
          </p:cNvSpPr>
          <p:nvPr>
            <p:ph idx="1"/>
          </p:nvPr>
        </p:nvSpPr>
        <p:spPr>
          <a:xfrm>
            <a:off x="678881" y="1659836"/>
            <a:ext cx="5417119" cy="4398066"/>
          </a:xfrm>
        </p:spPr>
        <p:txBody>
          <a:bodyPr>
            <a:normAutofit/>
          </a:bodyPr>
          <a:lstStyle/>
          <a:p>
            <a:r>
              <a:rPr lang="en-US" sz="1600" dirty="0"/>
              <a:t>Before training the machine learning models, important clinical and tumor-related features were selected based on their relevance to survival prediction and mortality risk analysis. Feature selection helped reduce unnecessary complexity and improve overall model performance.</a:t>
            </a:r>
          </a:p>
          <a:p>
            <a:r>
              <a:rPr lang="en-US" sz="1600" dirty="0"/>
              <a:t>The dataset was divided into </a:t>
            </a:r>
            <a:r>
              <a:rPr lang="en-US" sz="1600" b="1" dirty="0"/>
              <a:t>feature variables (X)</a:t>
            </a:r>
            <a:r>
              <a:rPr lang="en-US" sz="1600" dirty="0"/>
              <a:t> and </a:t>
            </a:r>
            <a:r>
              <a:rPr lang="en-US" sz="1600" b="1" dirty="0"/>
              <a:t>target variable (y)</a:t>
            </a:r>
            <a:r>
              <a:rPr lang="en-US" sz="1600" dirty="0"/>
              <a:t> for mortality prediction modeling. Numerical features were normalized using </a:t>
            </a:r>
            <a:r>
              <a:rPr lang="en-US" sz="1600" b="1" dirty="0" err="1"/>
              <a:t>StandardScaler</a:t>
            </a:r>
            <a:r>
              <a:rPr lang="en-US" sz="1600" dirty="0"/>
              <a:t> to ensure consistent feature scaling and improve model efficiency, especially for algorithms such as SVM and Logistic Regression.</a:t>
            </a:r>
          </a:p>
          <a:p>
            <a:r>
              <a:rPr lang="en-US" sz="1600" dirty="0"/>
              <a:t>Finally, the dataset was split into </a:t>
            </a:r>
            <a:r>
              <a:rPr lang="en-US" sz="1600" b="1" dirty="0"/>
              <a:t>training and testing sets</a:t>
            </a:r>
            <a:r>
              <a:rPr lang="en-US" sz="1600" dirty="0"/>
              <a:t> using the </a:t>
            </a:r>
            <a:r>
              <a:rPr lang="en-US" sz="1600" b="1" dirty="0"/>
              <a:t>train-test split</a:t>
            </a:r>
            <a:r>
              <a:rPr lang="en-US" sz="1600" dirty="0"/>
              <a:t> technique to evaluate the performance of the models on unseen data and ensure reliable prediction results.</a:t>
            </a:r>
          </a:p>
          <a:p>
            <a:endParaRPr lang="en-IN" sz="1600" dirty="0"/>
          </a:p>
        </p:txBody>
      </p:sp>
      <p:sp>
        <p:nvSpPr>
          <p:cNvPr id="5" name="TextBox 4">
            <a:extLst>
              <a:ext uri="{FF2B5EF4-FFF2-40B4-BE49-F238E27FC236}">
                <a16:creationId xmlns:a16="http://schemas.microsoft.com/office/drawing/2014/main" id="{B0CDFE4B-FBE2-C585-0485-9279093FAF9F}"/>
              </a:ext>
            </a:extLst>
          </p:cNvPr>
          <p:cNvSpPr txBox="1"/>
          <p:nvPr/>
        </p:nvSpPr>
        <p:spPr>
          <a:xfrm>
            <a:off x="6395937" y="1812773"/>
            <a:ext cx="5417119" cy="1569660"/>
          </a:xfrm>
          <a:prstGeom prst="rect">
            <a:avLst/>
          </a:prstGeom>
          <a:noFill/>
        </p:spPr>
        <p:txBody>
          <a:bodyPr wrap="square">
            <a:spAutoFit/>
          </a:bodyPr>
          <a:lstStyle/>
          <a:p>
            <a:r>
              <a:rPr lang="en-US" sz="1600" b="1" dirty="0">
                <a:solidFill>
                  <a:schemeClr val="bg1"/>
                </a:solidFill>
              </a:rPr>
              <a:t>Key Insights</a:t>
            </a:r>
          </a:p>
          <a:p>
            <a:pPr marL="285750" indent="-285750">
              <a:buFont typeface="Wingdings" panose="05000000000000000000" pitchFamily="2" charset="2"/>
              <a:buChar char="§"/>
            </a:pPr>
            <a:r>
              <a:rPr lang="en-US" sz="1600" dirty="0">
                <a:solidFill>
                  <a:schemeClr val="bg1"/>
                </a:solidFill>
              </a:rPr>
              <a:t>Feature selection improved model efficiency and reduced unnecessary complexity. </a:t>
            </a:r>
          </a:p>
          <a:p>
            <a:pPr marL="285750" indent="-285750">
              <a:buFont typeface="Wingdings" panose="05000000000000000000" pitchFamily="2" charset="2"/>
              <a:buChar char="§"/>
            </a:pPr>
            <a:r>
              <a:rPr lang="en-US" sz="1600" dirty="0">
                <a:solidFill>
                  <a:schemeClr val="bg1"/>
                </a:solidFill>
              </a:rPr>
              <a:t>Feature scaling improved model stability and performance. </a:t>
            </a:r>
          </a:p>
          <a:p>
            <a:pPr marL="285750" indent="-285750">
              <a:buFont typeface="Wingdings" panose="05000000000000000000" pitchFamily="2" charset="2"/>
              <a:buChar char="§"/>
            </a:pPr>
            <a:r>
              <a:rPr lang="en-US" sz="1600" dirty="0">
                <a:solidFill>
                  <a:schemeClr val="bg1"/>
                </a:solidFill>
              </a:rPr>
              <a:t>Train-test split helped evaluate model reliability on unseen data.</a:t>
            </a:r>
          </a:p>
        </p:txBody>
      </p:sp>
    </p:spTree>
    <p:extLst>
      <p:ext uri="{BB962C8B-B14F-4D97-AF65-F5344CB8AC3E}">
        <p14:creationId xmlns:p14="http://schemas.microsoft.com/office/powerpoint/2010/main" val="3615570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7A021-4A2F-F1C3-6DAD-1D1BC7046AE6}"/>
              </a:ext>
            </a:extLst>
          </p:cNvPr>
          <p:cNvSpPr>
            <a:spLocks noGrp="1"/>
          </p:cNvSpPr>
          <p:nvPr>
            <p:ph type="title"/>
          </p:nvPr>
        </p:nvSpPr>
        <p:spPr>
          <a:xfrm>
            <a:off x="678881" y="603666"/>
            <a:ext cx="5417119" cy="563654"/>
          </a:xfrm>
        </p:spPr>
        <p:txBody>
          <a:bodyPr>
            <a:normAutofit fontScale="90000"/>
          </a:bodyPr>
          <a:lstStyle/>
          <a:p>
            <a:r>
              <a:rPr lang="en-IN" dirty="0"/>
              <a:t>Model Evaluation &amp; Comparison</a:t>
            </a:r>
          </a:p>
        </p:txBody>
      </p:sp>
      <p:sp>
        <p:nvSpPr>
          <p:cNvPr id="3" name="Content Placeholder 2">
            <a:extLst>
              <a:ext uri="{FF2B5EF4-FFF2-40B4-BE49-F238E27FC236}">
                <a16:creationId xmlns:a16="http://schemas.microsoft.com/office/drawing/2014/main" id="{FFD1269E-5660-10ED-1498-4ACDEAEFFA9E}"/>
              </a:ext>
            </a:extLst>
          </p:cNvPr>
          <p:cNvSpPr>
            <a:spLocks noGrp="1"/>
          </p:cNvSpPr>
          <p:nvPr>
            <p:ph idx="1"/>
          </p:nvPr>
        </p:nvSpPr>
        <p:spPr>
          <a:xfrm>
            <a:off x="573933" y="1352145"/>
            <a:ext cx="5212188" cy="4705757"/>
          </a:xfrm>
        </p:spPr>
        <p:txBody>
          <a:bodyPr>
            <a:normAutofit/>
          </a:bodyPr>
          <a:lstStyle/>
          <a:p>
            <a:r>
              <a:rPr lang="en-US" sz="1600" dirty="0"/>
              <a:t>The machine learning models were evaluated and compared to identify the most effective model for predicting the 10-year mortality risk of breast cancer patients.</a:t>
            </a:r>
          </a:p>
          <a:p>
            <a:r>
              <a:rPr lang="en-US" sz="1600" dirty="0"/>
              <a:t>Different evaluation metrics such as </a:t>
            </a:r>
            <a:r>
              <a:rPr lang="en-US" sz="1600" b="1" dirty="0"/>
              <a:t>Accuracy, Precision, Recall, F1-Score, and ROC-AUC Score</a:t>
            </a:r>
            <a:r>
              <a:rPr lang="en-US" sz="1600" dirty="0"/>
              <a:t> were used to measure the prediction performance of each model. These metrics helped evaluate how well the models classified survival outcomes and handled complex clinical data.</a:t>
            </a:r>
          </a:p>
          <a:p>
            <a:r>
              <a:rPr lang="en-US" sz="1600" dirty="0"/>
              <a:t>Random Forest achieved the best overall performance with 75% accuracy, while SVM also showed strong classification capability on survival-related data.</a:t>
            </a:r>
          </a:p>
          <a:p>
            <a:r>
              <a:rPr lang="en-US" sz="1600" dirty="0"/>
              <a:t>The comparison of multiple models helped in selecting the most reliable approach for mortality prediction and improved the overall understanding of model performance on medical survival data.</a:t>
            </a:r>
          </a:p>
          <a:p>
            <a:endParaRPr lang="en-IN" sz="1600" dirty="0"/>
          </a:p>
        </p:txBody>
      </p:sp>
      <p:pic>
        <p:nvPicPr>
          <p:cNvPr id="9" name="Picture 8">
            <a:extLst>
              <a:ext uri="{FF2B5EF4-FFF2-40B4-BE49-F238E27FC236}">
                <a16:creationId xmlns:a16="http://schemas.microsoft.com/office/drawing/2014/main" id="{87024CFB-2ABC-F123-0593-D6C4866BCB56}"/>
              </a:ext>
            </a:extLst>
          </p:cNvPr>
          <p:cNvPicPr>
            <a:picLocks noChangeAspect="1"/>
          </p:cNvPicPr>
          <p:nvPr/>
        </p:nvPicPr>
        <p:blipFill>
          <a:blip r:embed="rId2"/>
          <a:stretch>
            <a:fillRect/>
          </a:stretch>
        </p:blipFill>
        <p:spPr>
          <a:xfrm>
            <a:off x="6231661" y="228712"/>
            <a:ext cx="2745875" cy="1203897"/>
          </a:xfrm>
          <a:prstGeom prst="rect">
            <a:avLst/>
          </a:prstGeom>
        </p:spPr>
      </p:pic>
      <p:pic>
        <p:nvPicPr>
          <p:cNvPr id="11" name="Picture 10">
            <a:extLst>
              <a:ext uri="{FF2B5EF4-FFF2-40B4-BE49-F238E27FC236}">
                <a16:creationId xmlns:a16="http://schemas.microsoft.com/office/drawing/2014/main" id="{757C85B4-F8BB-ABBE-9A8B-AD80A4D008AE}"/>
              </a:ext>
            </a:extLst>
          </p:cNvPr>
          <p:cNvPicPr>
            <a:picLocks noChangeAspect="1"/>
          </p:cNvPicPr>
          <p:nvPr/>
        </p:nvPicPr>
        <p:blipFill>
          <a:blip r:embed="rId3"/>
          <a:stretch>
            <a:fillRect/>
          </a:stretch>
        </p:blipFill>
        <p:spPr>
          <a:xfrm>
            <a:off x="6231661" y="1658170"/>
            <a:ext cx="2843248" cy="1203897"/>
          </a:xfrm>
          <a:prstGeom prst="rect">
            <a:avLst/>
          </a:prstGeom>
        </p:spPr>
      </p:pic>
      <p:pic>
        <p:nvPicPr>
          <p:cNvPr id="13" name="Picture 12">
            <a:extLst>
              <a:ext uri="{FF2B5EF4-FFF2-40B4-BE49-F238E27FC236}">
                <a16:creationId xmlns:a16="http://schemas.microsoft.com/office/drawing/2014/main" id="{F9CB945D-556F-89E5-BB15-5BDC4D5E3201}"/>
              </a:ext>
            </a:extLst>
          </p:cNvPr>
          <p:cNvPicPr>
            <a:picLocks noChangeAspect="1"/>
          </p:cNvPicPr>
          <p:nvPr/>
        </p:nvPicPr>
        <p:blipFill>
          <a:blip r:embed="rId4"/>
          <a:stretch>
            <a:fillRect/>
          </a:stretch>
        </p:blipFill>
        <p:spPr>
          <a:xfrm>
            <a:off x="9074909" y="228712"/>
            <a:ext cx="2971323" cy="1203897"/>
          </a:xfrm>
          <a:prstGeom prst="rect">
            <a:avLst/>
          </a:prstGeom>
        </p:spPr>
      </p:pic>
      <p:pic>
        <p:nvPicPr>
          <p:cNvPr id="15" name="Picture 14">
            <a:extLst>
              <a:ext uri="{FF2B5EF4-FFF2-40B4-BE49-F238E27FC236}">
                <a16:creationId xmlns:a16="http://schemas.microsoft.com/office/drawing/2014/main" id="{D13B276C-9D7A-17D1-6CB4-AA7AFC761CFA}"/>
              </a:ext>
            </a:extLst>
          </p:cNvPr>
          <p:cNvPicPr>
            <a:picLocks noChangeAspect="1"/>
          </p:cNvPicPr>
          <p:nvPr/>
        </p:nvPicPr>
        <p:blipFill>
          <a:blip r:embed="rId5"/>
          <a:stretch>
            <a:fillRect/>
          </a:stretch>
        </p:blipFill>
        <p:spPr>
          <a:xfrm>
            <a:off x="9241277" y="1657295"/>
            <a:ext cx="2737184" cy="1203897"/>
          </a:xfrm>
          <a:prstGeom prst="rect">
            <a:avLst/>
          </a:prstGeom>
        </p:spPr>
      </p:pic>
      <p:sp>
        <p:nvSpPr>
          <p:cNvPr id="17" name="TextBox 16">
            <a:extLst>
              <a:ext uri="{FF2B5EF4-FFF2-40B4-BE49-F238E27FC236}">
                <a16:creationId xmlns:a16="http://schemas.microsoft.com/office/drawing/2014/main" id="{D339B68C-0CF4-76E0-D02B-8A7AB372BB16}"/>
              </a:ext>
            </a:extLst>
          </p:cNvPr>
          <p:cNvSpPr txBox="1"/>
          <p:nvPr/>
        </p:nvSpPr>
        <p:spPr>
          <a:xfrm>
            <a:off x="6405881" y="4849238"/>
            <a:ext cx="5925022" cy="830997"/>
          </a:xfrm>
          <a:prstGeom prst="rect">
            <a:avLst/>
          </a:prstGeom>
          <a:noFill/>
        </p:spPr>
        <p:txBody>
          <a:bodyPr wrap="square">
            <a:spAutoFit/>
          </a:bodyPr>
          <a:lstStyle/>
          <a:p>
            <a:pPr>
              <a:buNone/>
            </a:pPr>
            <a:r>
              <a:rPr lang="en-US" sz="1200" b="1" dirty="0">
                <a:solidFill>
                  <a:schemeClr val="bg1"/>
                </a:solidFill>
              </a:rPr>
              <a:t>Key Insights</a:t>
            </a:r>
          </a:p>
          <a:p>
            <a:pPr>
              <a:buFont typeface="Arial" panose="020B0604020202020204" pitchFamily="34" charset="0"/>
              <a:buChar char="•"/>
            </a:pPr>
            <a:r>
              <a:rPr lang="en-US" sz="1200" dirty="0">
                <a:solidFill>
                  <a:schemeClr val="bg1"/>
                </a:solidFill>
              </a:rPr>
              <a:t>Random Forest achieved the best overall prediction accuracy of </a:t>
            </a:r>
            <a:r>
              <a:rPr lang="en-US" sz="1200" b="1" dirty="0">
                <a:solidFill>
                  <a:schemeClr val="bg1"/>
                </a:solidFill>
              </a:rPr>
              <a:t>75%</a:t>
            </a:r>
          </a:p>
          <a:p>
            <a:pPr>
              <a:buFont typeface="Arial" panose="020B0604020202020204" pitchFamily="34" charset="0"/>
              <a:buChar char="•"/>
            </a:pPr>
            <a:r>
              <a:rPr lang="en-US" sz="1200" dirty="0">
                <a:solidFill>
                  <a:schemeClr val="bg1"/>
                </a:solidFill>
              </a:rPr>
              <a:t>SVM showed strong performance in handling complex survival-related patterns</a:t>
            </a:r>
          </a:p>
          <a:p>
            <a:pPr>
              <a:buFont typeface="Arial" panose="020B0604020202020204" pitchFamily="34" charset="0"/>
              <a:buChar char="•"/>
            </a:pPr>
            <a:r>
              <a:rPr lang="en-US" sz="1200" dirty="0">
                <a:solidFill>
                  <a:schemeClr val="bg1"/>
                </a:solidFill>
              </a:rPr>
              <a:t>Model comparison helped identify the most reliable prediction model</a:t>
            </a:r>
          </a:p>
        </p:txBody>
      </p:sp>
      <p:pic>
        <p:nvPicPr>
          <p:cNvPr id="19" name="Picture 18">
            <a:extLst>
              <a:ext uri="{FF2B5EF4-FFF2-40B4-BE49-F238E27FC236}">
                <a16:creationId xmlns:a16="http://schemas.microsoft.com/office/drawing/2014/main" id="{8F182B1D-A768-5018-B6E6-CD4A733CBC9D}"/>
              </a:ext>
            </a:extLst>
          </p:cNvPr>
          <p:cNvPicPr>
            <a:picLocks noChangeAspect="1"/>
          </p:cNvPicPr>
          <p:nvPr/>
        </p:nvPicPr>
        <p:blipFill>
          <a:blip r:embed="rId6"/>
          <a:stretch>
            <a:fillRect/>
          </a:stretch>
        </p:blipFill>
        <p:spPr>
          <a:xfrm>
            <a:off x="6218766" y="3039626"/>
            <a:ext cx="5712286" cy="1630303"/>
          </a:xfrm>
          <a:prstGeom prst="rect">
            <a:avLst/>
          </a:prstGeom>
        </p:spPr>
      </p:pic>
    </p:spTree>
    <p:extLst>
      <p:ext uri="{BB962C8B-B14F-4D97-AF65-F5344CB8AC3E}">
        <p14:creationId xmlns:p14="http://schemas.microsoft.com/office/powerpoint/2010/main" val="3371750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53446-643B-D9D7-4013-8E9903FE3781}"/>
              </a:ext>
            </a:extLst>
          </p:cNvPr>
          <p:cNvSpPr>
            <a:spLocks noGrp="1"/>
          </p:cNvSpPr>
          <p:nvPr>
            <p:ph type="title"/>
          </p:nvPr>
        </p:nvSpPr>
        <p:spPr>
          <a:xfrm>
            <a:off x="605944" y="515739"/>
            <a:ext cx="7239433" cy="446922"/>
          </a:xfrm>
        </p:spPr>
        <p:txBody>
          <a:bodyPr>
            <a:noAutofit/>
          </a:bodyPr>
          <a:lstStyle/>
          <a:p>
            <a:r>
              <a:rPr lang="en-IN" sz="1800" dirty="0"/>
              <a:t>Model Comparison Analysis and ROC Curve Comparison</a:t>
            </a:r>
          </a:p>
        </p:txBody>
      </p:sp>
      <p:pic>
        <p:nvPicPr>
          <p:cNvPr id="5" name="Picture 4">
            <a:extLst>
              <a:ext uri="{FF2B5EF4-FFF2-40B4-BE49-F238E27FC236}">
                <a16:creationId xmlns:a16="http://schemas.microsoft.com/office/drawing/2014/main" id="{D077867D-E8D2-2AF1-93AA-FF141EE40AF0}"/>
              </a:ext>
            </a:extLst>
          </p:cNvPr>
          <p:cNvPicPr>
            <a:picLocks noChangeAspect="1"/>
          </p:cNvPicPr>
          <p:nvPr/>
        </p:nvPicPr>
        <p:blipFill>
          <a:blip r:embed="rId2"/>
          <a:stretch>
            <a:fillRect/>
          </a:stretch>
        </p:blipFill>
        <p:spPr>
          <a:xfrm>
            <a:off x="605944" y="1458513"/>
            <a:ext cx="4578898" cy="2557047"/>
          </a:xfrm>
          <a:prstGeom prst="rect">
            <a:avLst/>
          </a:prstGeom>
        </p:spPr>
      </p:pic>
      <p:pic>
        <p:nvPicPr>
          <p:cNvPr id="6" name="Picture 5">
            <a:extLst>
              <a:ext uri="{FF2B5EF4-FFF2-40B4-BE49-F238E27FC236}">
                <a16:creationId xmlns:a16="http://schemas.microsoft.com/office/drawing/2014/main" id="{202047CA-17C1-A88F-2E80-5891DDBAA4E3}"/>
              </a:ext>
            </a:extLst>
          </p:cNvPr>
          <p:cNvPicPr>
            <a:picLocks noChangeAspect="1"/>
          </p:cNvPicPr>
          <p:nvPr/>
        </p:nvPicPr>
        <p:blipFill>
          <a:blip r:embed="rId3"/>
          <a:stretch>
            <a:fillRect/>
          </a:stretch>
        </p:blipFill>
        <p:spPr>
          <a:xfrm>
            <a:off x="6879670" y="1458513"/>
            <a:ext cx="4135083" cy="2805949"/>
          </a:xfrm>
          <a:prstGeom prst="rect">
            <a:avLst/>
          </a:prstGeom>
        </p:spPr>
      </p:pic>
      <p:sp>
        <p:nvSpPr>
          <p:cNvPr id="8" name="TextBox 7">
            <a:extLst>
              <a:ext uri="{FF2B5EF4-FFF2-40B4-BE49-F238E27FC236}">
                <a16:creationId xmlns:a16="http://schemas.microsoft.com/office/drawing/2014/main" id="{42354C26-92C7-0D5C-F0A1-265BE35F56AA}"/>
              </a:ext>
            </a:extLst>
          </p:cNvPr>
          <p:cNvSpPr txBox="1"/>
          <p:nvPr/>
        </p:nvSpPr>
        <p:spPr>
          <a:xfrm>
            <a:off x="265476" y="4511412"/>
            <a:ext cx="6099242" cy="1384995"/>
          </a:xfrm>
          <a:prstGeom prst="rect">
            <a:avLst/>
          </a:prstGeom>
          <a:noFill/>
        </p:spPr>
        <p:txBody>
          <a:bodyPr wrap="square">
            <a:spAutoFit/>
          </a:bodyPr>
          <a:lstStyle/>
          <a:p>
            <a:pPr>
              <a:buNone/>
            </a:pPr>
            <a:r>
              <a:rPr lang="en-US" sz="1400" b="1" dirty="0"/>
              <a:t>Key Insights</a:t>
            </a:r>
          </a:p>
          <a:p>
            <a:pPr>
              <a:buFont typeface="Arial" panose="020B0604020202020204" pitchFamily="34" charset="0"/>
              <a:buChar char="•"/>
            </a:pPr>
            <a:r>
              <a:rPr lang="en-US" sz="1400" dirty="0"/>
              <a:t>Random Forest achieved the highest prediction accuracy (75%) and ROC-AUC score (0.84).</a:t>
            </a:r>
          </a:p>
          <a:p>
            <a:pPr>
              <a:buFont typeface="Arial" panose="020B0604020202020204" pitchFamily="34" charset="0"/>
              <a:buChar char="•"/>
            </a:pPr>
            <a:r>
              <a:rPr lang="en-US" sz="1400" dirty="0"/>
              <a:t>SVM also demonstrated strong classification performance. </a:t>
            </a:r>
          </a:p>
          <a:p>
            <a:pPr>
              <a:buFont typeface="Arial" panose="020B0604020202020204" pitchFamily="34" charset="0"/>
              <a:buChar char="•"/>
            </a:pPr>
            <a:r>
              <a:rPr lang="en-US" sz="1400" dirty="0"/>
              <a:t>ROC Curve analysis helped compare the reliability of different models. </a:t>
            </a:r>
          </a:p>
          <a:p>
            <a:pPr>
              <a:buFont typeface="Arial" panose="020B0604020202020204" pitchFamily="34" charset="0"/>
              <a:buChar char="•"/>
            </a:pPr>
            <a:r>
              <a:rPr lang="en-US" sz="1400" dirty="0"/>
              <a:t>Higher ROC-AUC values indicated better prediction </a:t>
            </a:r>
            <a:r>
              <a:rPr lang="en-IN" sz="1400" dirty="0"/>
              <a:t>capability</a:t>
            </a:r>
            <a:endParaRPr lang="en-US" sz="1400" dirty="0"/>
          </a:p>
        </p:txBody>
      </p:sp>
    </p:spTree>
    <p:extLst>
      <p:ext uri="{BB962C8B-B14F-4D97-AF65-F5344CB8AC3E}">
        <p14:creationId xmlns:p14="http://schemas.microsoft.com/office/powerpoint/2010/main" val="3924979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E466C-3C20-3B43-5932-F9B1403F713F}"/>
              </a:ext>
            </a:extLst>
          </p:cNvPr>
          <p:cNvSpPr>
            <a:spLocks noGrp="1"/>
          </p:cNvSpPr>
          <p:nvPr>
            <p:ph type="title"/>
          </p:nvPr>
        </p:nvSpPr>
        <p:spPr>
          <a:xfrm>
            <a:off x="280047" y="564754"/>
            <a:ext cx="5107239" cy="612775"/>
          </a:xfrm>
        </p:spPr>
        <p:txBody>
          <a:bodyPr/>
          <a:lstStyle/>
          <a:p>
            <a:r>
              <a:rPr lang="en-IN" dirty="0"/>
              <a:t>Feature Importance Analysis</a:t>
            </a:r>
          </a:p>
        </p:txBody>
      </p:sp>
      <p:sp>
        <p:nvSpPr>
          <p:cNvPr id="3" name="Content Placeholder 2">
            <a:extLst>
              <a:ext uri="{FF2B5EF4-FFF2-40B4-BE49-F238E27FC236}">
                <a16:creationId xmlns:a16="http://schemas.microsoft.com/office/drawing/2014/main" id="{8E41EE40-D975-7125-D75F-75183A5FAD6D}"/>
              </a:ext>
            </a:extLst>
          </p:cNvPr>
          <p:cNvSpPr>
            <a:spLocks noGrp="1"/>
          </p:cNvSpPr>
          <p:nvPr>
            <p:ph idx="1"/>
          </p:nvPr>
        </p:nvSpPr>
        <p:spPr>
          <a:xfrm>
            <a:off x="219626" y="1478604"/>
            <a:ext cx="5416469" cy="4423655"/>
          </a:xfrm>
        </p:spPr>
        <p:txBody>
          <a:bodyPr>
            <a:normAutofit/>
          </a:bodyPr>
          <a:lstStyle/>
          <a:p>
            <a:r>
              <a:rPr lang="en-US" sz="1600" dirty="0"/>
              <a:t>Feature importance analysis was performed using the </a:t>
            </a:r>
            <a:r>
              <a:rPr lang="en-US" sz="1600" b="1" dirty="0"/>
              <a:t>Random Forest Classifier</a:t>
            </a:r>
            <a:r>
              <a:rPr lang="en-US" sz="1600" dirty="0"/>
              <a:t> to identify the most influential clinical and tumor-related features affecting breast cancer survival and mortality prediction.</a:t>
            </a:r>
          </a:p>
          <a:p>
            <a:r>
              <a:rPr lang="en-US" sz="1600" dirty="0"/>
              <a:t>The analysis showed that </a:t>
            </a:r>
            <a:r>
              <a:rPr lang="en-US" sz="1600" b="1" dirty="0"/>
              <a:t>Age at Diagnosis</a:t>
            </a:r>
            <a:r>
              <a:rPr lang="en-US" sz="1600" dirty="0"/>
              <a:t> was the most important feature influencing patient survival outcomes, followed by </a:t>
            </a:r>
            <a:r>
              <a:rPr lang="en-US" sz="1600" b="1" dirty="0"/>
              <a:t>Cohort, Nottingham Prognostic Index, Integrative Cluster, and Tumor Size</a:t>
            </a:r>
            <a:r>
              <a:rPr lang="en-US" sz="1600" dirty="0"/>
              <a:t>. These features showed strong contribution toward predicting long-term survival risk and mortality outcomes.</a:t>
            </a:r>
          </a:p>
          <a:p>
            <a:r>
              <a:rPr lang="en-US" sz="1600" dirty="0"/>
              <a:t>Other important features such as </a:t>
            </a:r>
            <a:r>
              <a:rPr lang="en-US" sz="1600" b="1" dirty="0"/>
              <a:t>Mutation Count, PAM50 + Claudin-low Subtype, 3-Gene Classifier Subtype, Lymph Nodes Examined Positive, and Radio Therapy</a:t>
            </a:r>
            <a:r>
              <a:rPr lang="en-US" sz="1600" dirty="0"/>
              <a:t> also played an important role in mortality prediction.</a:t>
            </a:r>
          </a:p>
          <a:p>
            <a:r>
              <a:rPr lang="en-US" sz="1600" dirty="0"/>
              <a:t>These features showed strong impact on survival prediction and mortality risk</a:t>
            </a:r>
            <a:endParaRPr lang="en-IN" sz="1600" dirty="0"/>
          </a:p>
        </p:txBody>
      </p:sp>
      <p:pic>
        <p:nvPicPr>
          <p:cNvPr id="5" name="Picture 4">
            <a:extLst>
              <a:ext uri="{FF2B5EF4-FFF2-40B4-BE49-F238E27FC236}">
                <a16:creationId xmlns:a16="http://schemas.microsoft.com/office/drawing/2014/main" id="{EEBFE6BC-A8BE-6276-7673-001707A90E4A}"/>
              </a:ext>
            </a:extLst>
          </p:cNvPr>
          <p:cNvPicPr>
            <a:picLocks noChangeAspect="1"/>
          </p:cNvPicPr>
          <p:nvPr/>
        </p:nvPicPr>
        <p:blipFill>
          <a:blip r:embed="rId2"/>
          <a:stretch>
            <a:fillRect/>
          </a:stretch>
        </p:blipFill>
        <p:spPr>
          <a:xfrm>
            <a:off x="6179145" y="710598"/>
            <a:ext cx="5803933" cy="2838047"/>
          </a:xfrm>
          <a:prstGeom prst="rect">
            <a:avLst/>
          </a:prstGeom>
        </p:spPr>
      </p:pic>
      <p:sp>
        <p:nvSpPr>
          <p:cNvPr id="7" name="TextBox 6">
            <a:extLst>
              <a:ext uri="{FF2B5EF4-FFF2-40B4-BE49-F238E27FC236}">
                <a16:creationId xmlns:a16="http://schemas.microsoft.com/office/drawing/2014/main" id="{0715BFD1-A3AC-E767-D155-36CE573FB8FD}"/>
              </a:ext>
            </a:extLst>
          </p:cNvPr>
          <p:cNvSpPr txBox="1"/>
          <p:nvPr/>
        </p:nvSpPr>
        <p:spPr>
          <a:xfrm>
            <a:off x="6277113" y="3989458"/>
            <a:ext cx="5607996" cy="1384995"/>
          </a:xfrm>
          <a:prstGeom prst="rect">
            <a:avLst/>
          </a:prstGeom>
          <a:noFill/>
        </p:spPr>
        <p:txBody>
          <a:bodyPr wrap="square">
            <a:spAutoFit/>
          </a:bodyPr>
          <a:lstStyle/>
          <a:p>
            <a:pPr>
              <a:buNone/>
            </a:pPr>
            <a:r>
              <a:rPr lang="en-US" sz="1200" b="1" dirty="0">
                <a:solidFill>
                  <a:schemeClr val="bg1"/>
                </a:solidFill>
              </a:rPr>
              <a:t>Key Insights</a:t>
            </a:r>
          </a:p>
          <a:p>
            <a:pPr>
              <a:buFont typeface="Arial" panose="020B0604020202020204" pitchFamily="34" charset="0"/>
              <a:buChar char="•"/>
            </a:pPr>
            <a:r>
              <a:rPr lang="en-US" sz="1200" dirty="0">
                <a:solidFill>
                  <a:schemeClr val="bg1"/>
                </a:solidFill>
              </a:rPr>
              <a:t>Age at Diagnosis was the most influential feature with the highest importance score (</a:t>
            </a:r>
            <a:r>
              <a:rPr lang="en-US" sz="1200" b="1" dirty="0">
                <a:solidFill>
                  <a:schemeClr val="bg1"/>
                </a:solidFill>
              </a:rPr>
              <a:t>0.15</a:t>
            </a:r>
            <a:r>
              <a:rPr lang="en-US" sz="1200" dirty="0">
                <a:solidFill>
                  <a:schemeClr val="bg1"/>
                </a:solidFill>
              </a:rPr>
              <a:t>). </a:t>
            </a:r>
          </a:p>
          <a:p>
            <a:pPr>
              <a:buFont typeface="Arial" panose="020B0604020202020204" pitchFamily="34" charset="0"/>
              <a:buChar char="•"/>
            </a:pPr>
            <a:r>
              <a:rPr lang="en-US" sz="1200" dirty="0">
                <a:solidFill>
                  <a:schemeClr val="bg1"/>
                </a:solidFill>
              </a:rPr>
              <a:t>Tumor-related and clinical features strongly affected survival prediction. </a:t>
            </a:r>
          </a:p>
          <a:p>
            <a:pPr>
              <a:buFont typeface="Arial" panose="020B0604020202020204" pitchFamily="34" charset="0"/>
              <a:buChar char="•"/>
            </a:pPr>
            <a:r>
              <a:rPr lang="en-US" sz="1200" dirty="0">
                <a:solidFill>
                  <a:schemeClr val="bg1"/>
                </a:solidFill>
              </a:rPr>
              <a:t>Nottingham Prognostic Index and Tumor Size showed major impact on mortality risk. </a:t>
            </a:r>
          </a:p>
          <a:p>
            <a:pPr>
              <a:buFont typeface="Arial" panose="020B0604020202020204" pitchFamily="34" charset="0"/>
              <a:buChar char="•"/>
            </a:pPr>
            <a:r>
              <a:rPr lang="en-US" sz="1200" dirty="0">
                <a:solidFill>
                  <a:schemeClr val="bg1"/>
                </a:solidFill>
              </a:rPr>
              <a:t>Feature importance analysis improved clinical understanding and model interpretability.</a:t>
            </a:r>
          </a:p>
        </p:txBody>
      </p:sp>
    </p:spTree>
    <p:extLst>
      <p:ext uri="{BB962C8B-B14F-4D97-AF65-F5344CB8AC3E}">
        <p14:creationId xmlns:p14="http://schemas.microsoft.com/office/powerpoint/2010/main" val="72506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3B012-7E9E-83B9-D958-27944834E142}"/>
              </a:ext>
            </a:extLst>
          </p:cNvPr>
          <p:cNvSpPr>
            <a:spLocks noGrp="1"/>
          </p:cNvSpPr>
          <p:nvPr>
            <p:ph type="title"/>
          </p:nvPr>
        </p:nvSpPr>
        <p:spPr>
          <a:xfrm>
            <a:off x="484328" y="613392"/>
            <a:ext cx="5107239" cy="699841"/>
          </a:xfrm>
        </p:spPr>
        <p:txBody>
          <a:bodyPr>
            <a:noAutofit/>
          </a:bodyPr>
          <a:lstStyle/>
          <a:p>
            <a:r>
              <a:rPr lang="en-IN" sz="2400" dirty="0"/>
              <a:t>Survival Analysis — Kaplan Meier Curve</a:t>
            </a:r>
          </a:p>
        </p:txBody>
      </p:sp>
      <p:sp>
        <p:nvSpPr>
          <p:cNvPr id="3" name="Content Placeholder 2">
            <a:extLst>
              <a:ext uri="{FF2B5EF4-FFF2-40B4-BE49-F238E27FC236}">
                <a16:creationId xmlns:a16="http://schemas.microsoft.com/office/drawing/2014/main" id="{F11F7AF0-1C26-F50D-B73A-BEFBD512762B}"/>
              </a:ext>
            </a:extLst>
          </p:cNvPr>
          <p:cNvSpPr>
            <a:spLocks noGrp="1"/>
          </p:cNvSpPr>
          <p:nvPr>
            <p:ph idx="1"/>
          </p:nvPr>
        </p:nvSpPr>
        <p:spPr>
          <a:xfrm>
            <a:off x="477844" y="1469853"/>
            <a:ext cx="5107239" cy="4398066"/>
          </a:xfrm>
        </p:spPr>
        <p:txBody>
          <a:bodyPr>
            <a:normAutofit/>
          </a:bodyPr>
          <a:lstStyle/>
          <a:p>
            <a:pPr marL="0" indent="0">
              <a:buNone/>
            </a:pPr>
            <a:r>
              <a:rPr lang="en-US" sz="1600" dirty="0"/>
              <a:t>Survival analysis was performed to estimate the probability of patient survival over time and understand long-term survival trends among breast cancer patients.</a:t>
            </a:r>
          </a:p>
          <a:p>
            <a:pPr marL="0" indent="0">
              <a:buNone/>
            </a:pPr>
            <a:r>
              <a:rPr lang="en-US" sz="1600" dirty="0"/>
              <a:t>The </a:t>
            </a:r>
            <a:r>
              <a:rPr lang="en-US" sz="1600" b="1" dirty="0"/>
              <a:t>Kaplan-Meier Survival Curve</a:t>
            </a:r>
            <a:r>
              <a:rPr lang="en-US" sz="1600" dirty="0"/>
              <a:t> was used to visualize survival probability across different time periods. The curve showed that survival probability gradually decreased over time, indicating the impact of clinical and tumor-related factors on patient outcomes.</a:t>
            </a:r>
          </a:p>
          <a:p>
            <a:pPr marL="0" indent="0">
              <a:buNone/>
            </a:pPr>
            <a:r>
              <a:rPr lang="en-US" sz="1600" dirty="0"/>
              <a:t>This analysis helped identify long-term survival trends and mortality risk patterns.</a:t>
            </a:r>
          </a:p>
        </p:txBody>
      </p:sp>
      <p:pic>
        <p:nvPicPr>
          <p:cNvPr id="5" name="Picture 4">
            <a:extLst>
              <a:ext uri="{FF2B5EF4-FFF2-40B4-BE49-F238E27FC236}">
                <a16:creationId xmlns:a16="http://schemas.microsoft.com/office/drawing/2014/main" id="{A52F3CD4-CCB0-759F-8347-6BB1FF1365BF}"/>
              </a:ext>
            </a:extLst>
          </p:cNvPr>
          <p:cNvPicPr>
            <a:picLocks noChangeAspect="1"/>
          </p:cNvPicPr>
          <p:nvPr/>
        </p:nvPicPr>
        <p:blipFill>
          <a:blip r:embed="rId2"/>
          <a:stretch>
            <a:fillRect/>
          </a:stretch>
        </p:blipFill>
        <p:spPr>
          <a:xfrm>
            <a:off x="6600435" y="846307"/>
            <a:ext cx="5113721" cy="3782090"/>
          </a:xfrm>
          <a:prstGeom prst="rect">
            <a:avLst/>
          </a:prstGeom>
        </p:spPr>
      </p:pic>
      <p:sp>
        <p:nvSpPr>
          <p:cNvPr id="7" name="TextBox 6">
            <a:extLst>
              <a:ext uri="{FF2B5EF4-FFF2-40B4-BE49-F238E27FC236}">
                <a16:creationId xmlns:a16="http://schemas.microsoft.com/office/drawing/2014/main" id="{DDC783A1-C8E0-F878-63FB-C54E25AC50FC}"/>
              </a:ext>
            </a:extLst>
          </p:cNvPr>
          <p:cNvSpPr txBox="1"/>
          <p:nvPr/>
        </p:nvSpPr>
        <p:spPr>
          <a:xfrm>
            <a:off x="3049621" y="2556701"/>
            <a:ext cx="6099242" cy="338554"/>
          </a:xfrm>
          <a:prstGeom prst="rect">
            <a:avLst/>
          </a:prstGeom>
          <a:noFill/>
        </p:spPr>
        <p:txBody>
          <a:bodyPr wrap="square">
            <a:spAutoFit/>
          </a:bodyPr>
          <a:lstStyle/>
          <a:p>
            <a:pPr>
              <a:buNone/>
            </a:pPr>
            <a:endParaRPr lang="en-US" sz="1600" dirty="0"/>
          </a:p>
        </p:txBody>
      </p:sp>
      <p:sp>
        <p:nvSpPr>
          <p:cNvPr id="9" name="TextBox 8">
            <a:extLst>
              <a:ext uri="{FF2B5EF4-FFF2-40B4-BE49-F238E27FC236}">
                <a16:creationId xmlns:a16="http://schemas.microsoft.com/office/drawing/2014/main" id="{869A343D-0D62-06F1-4F38-C09031C50214}"/>
              </a:ext>
            </a:extLst>
          </p:cNvPr>
          <p:cNvSpPr txBox="1"/>
          <p:nvPr/>
        </p:nvSpPr>
        <p:spPr>
          <a:xfrm>
            <a:off x="484328" y="4288371"/>
            <a:ext cx="5753692" cy="1384995"/>
          </a:xfrm>
          <a:prstGeom prst="rect">
            <a:avLst/>
          </a:prstGeom>
          <a:noFill/>
        </p:spPr>
        <p:txBody>
          <a:bodyPr wrap="square">
            <a:spAutoFit/>
          </a:bodyPr>
          <a:lstStyle/>
          <a:p>
            <a:r>
              <a:rPr lang="en-US" sz="1400" b="1" dirty="0"/>
              <a:t>Key Insights</a:t>
            </a:r>
          </a:p>
          <a:p>
            <a:pPr marL="285750" indent="-285750">
              <a:buFont typeface="Arial" panose="020B0604020202020204" pitchFamily="34" charset="0"/>
              <a:buChar char="•"/>
            </a:pPr>
            <a:r>
              <a:rPr lang="en-US" sz="1400" dirty="0"/>
              <a:t>Survival probability decreased gradually over time. </a:t>
            </a:r>
          </a:p>
          <a:p>
            <a:pPr marL="285750" indent="-285750">
              <a:buFont typeface="Arial" panose="020B0604020202020204" pitchFamily="34" charset="0"/>
              <a:buChar char="•"/>
            </a:pPr>
            <a:r>
              <a:rPr lang="en-US" sz="1400" dirty="0"/>
              <a:t>Long-term survival outcomes varied among patients. </a:t>
            </a:r>
          </a:p>
          <a:p>
            <a:pPr marL="285750" indent="-285750">
              <a:buFont typeface="Arial" panose="020B0604020202020204" pitchFamily="34" charset="0"/>
              <a:buChar char="•"/>
            </a:pPr>
            <a:r>
              <a:rPr lang="en-US" sz="1400" dirty="0"/>
              <a:t>Clinical and tumor-related factors influenced survival probability. </a:t>
            </a:r>
          </a:p>
          <a:p>
            <a:pPr marL="285750" indent="-285750">
              <a:buFont typeface="Arial" panose="020B0604020202020204" pitchFamily="34" charset="0"/>
              <a:buChar char="•"/>
            </a:pPr>
            <a:r>
              <a:rPr lang="en-US" sz="1400" dirty="0"/>
              <a:t>Kaplan-Meier analysis helped visualize patient survival probability over time.</a:t>
            </a:r>
            <a:endParaRPr lang="en-IN" sz="1400" dirty="0"/>
          </a:p>
        </p:txBody>
      </p:sp>
    </p:spTree>
    <p:extLst>
      <p:ext uri="{BB962C8B-B14F-4D97-AF65-F5344CB8AC3E}">
        <p14:creationId xmlns:p14="http://schemas.microsoft.com/office/powerpoint/2010/main" val="2781350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A6576-B3A3-FC31-FFF1-238E772FB1BB}"/>
              </a:ext>
            </a:extLst>
          </p:cNvPr>
          <p:cNvSpPr>
            <a:spLocks noGrp="1"/>
          </p:cNvSpPr>
          <p:nvPr>
            <p:ph type="title"/>
          </p:nvPr>
        </p:nvSpPr>
        <p:spPr/>
        <p:txBody>
          <a:bodyPr>
            <a:noAutofit/>
          </a:bodyPr>
          <a:lstStyle/>
          <a:p>
            <a:r>
              <a:rPr lang="en-US" sz="2000" dirty="0"/>
              <a:t>Cox Proportional Hazards Model Analysis</a:t>
            </a:r>
            <a:endParaRPr lang="en-IN" sz="2000" dirty="0"/>
          </a:p>
        </p:txBody>
      </p:sp>
      <p:sp>
        <p:nvSpPr>
          <p:cNvPr id="3" name="Content Placeholder 2">
            <a:extLst>
              <a:ext uri="{FF2B5EF4-FFF2-40B4-BE49-F238E27FC236}">
                <a16:creationId xmlns:a16="http://schemas.microsoft.com/office/drawing/2014/main" id="{DAE7FD41-D62B-2094-E628-7FD9F7897207}"/>
              </a:ext>
            </a:extLst>
          </p:cNvPr>
          <p:cNvSpPr>
            <a:spLocks noGrp="1"/>
          </p:cNvSpPr>
          <p:nvPr>
            <p:ph idx="1"/>
          </p:nvPr>
        </p:nvSpPr>
        <p:spPr>
          <a:xfrm>
            <a:off x="678880" y="1348551"/>
            <a:ext cx="5107239" cy="4398066"/>
          </a:xfrm>
        </p:spPr>
        <p:txBody>
          <a:bodyPr>
            <a:normAutofit/>
          </a:bodyPr>
          <a:lstStyle/>
          <a:p>
            <a:r>
              <a:rPr lang="en-US" sz="1600" dirty="0"/>
              <a:t>The </a:t>
            </a:r>
            <a:r>
              <a:rPr lang="en-US" sz="1600" b="1" dirty="0"/>
              <a:t>Cox Proportional Hazards Model</a:t>
            </a:r>
            <a:r>
              <a:rPr lang="en-US" sz="1600" dirty="0"/>
              <a:t> was used to analyze the impact of clinical and tumor-related features on patient survival outcomes over time.</a:t>
            </a:r>
          </a:p>
          <a:p>
            <a:r>
              <a:rPr lang="en-US" sz="1600" dirty="0"/>
              <a:t>The model was trained using </a:t>
            </a:r>
            <a:r>
              <a:rPr lang="en-US" sz="1600" b="1" dirty="0"/>
              <a:t>Overall Survival (Months)</a:t>
            </a:r>
            <a:r>
              <a:rPr lang="en-US" sz="1600" dirty="0"/>
              <a:t> as the duration variable and </a:t>
            </a:r>
            <a:r>
              <a:rPr lang="en-US" sz="1600" b="1" dirty="0"/>
              <a:t>Target/Event Status</a:t>
            </a:r>
            <a:r>
              <a:rPr lang="en-US" sz="1600" dirty="0"/>
              <a:t> as the event variable. The analysis showed that Age at Diagnosis, Tumor Size, and Nottingham Prognostic Index significantly influenced patient survival outcomes.</a:t>
            </a:r>
          </a:p>
          <a:p>
            <a:r>
              <a:rPr lang="en-US" sz="1600" dirty="0"/>
              <a:t>The Cox PH model also provided important survival insights through hazard ratios and helped validate the importance of clinical features used in the machine learning models.</a:t>
            </a:r>
          </a:p>
          <a:p>
            <a:endParaRPr lang="en-IN" sz="1600" dirty="0"/>
          </a:p>
        </p:txBody>
      </p:sp>
      <p:pic>
        <p:nvPicPr>
          <p:cNvPr id="5" name="Picture 4">
            <a:extLst>
              <a:ext uri="{FF2B5EF4-FFF2-40B4-BE49-F238E27FC236}">
                <a16:creationId xmlns:a16="http://schemas.microsoft.com/office/drawing/2014/main" id="{D20AD805-3206-5696-BE5E-38761A0743AD}"/>
              </a:ext>
            </a:extLst>
          </p:cNvPr>
          <p:cNvPicPr>
            <a:picLocks noChangeAspect="1"/>
          </p:cNvPicPr>
          <p:nvPr/>
        </p:nvPicPr>
        <p:blipFill>
          <a:blip r:embed="rId2"/>
          <a:stretch>
            <a:fillRect/>
          </a:stretch>
        </p:blipFill>
        <p:spPr>
          <a:xfrm>
            <a:off x="6281096" y="846823"/>
            <a:ext cx="5634786" cy="3151246"/>
          </a:xfrm>
          <a:prstGeom prst="rect">
            <a:avLst/>
          </a:prstGeom>
        </p:spPr>
      </p:pic>
      <p:sp>
        <p:nvSpPr>
          <p:cNvPr id="7" name="TextBox 6">
            <a:extLst>
              <a:ext uri="{FF2B5EF4-FFF2-40B4-BE49-F238E27FC236}">
                <a16:creationId xmlns:a16="http://schemas.microsoft.com/office/drawing/2014/main" id="{963942F7-183F-E424-CEE9-ACA2B1692785}"/>
              </a:ext>
            </a:extLst>
          </p:cNvPr>
          <p:cNvSpPr txBox="1"/>
          <p:nvPr/>
        </p:nvSpPr>
        <p:spPr>
          <a:xfrm>
            <a:off x="6808642" y="4146179"/>
            <a:ext cx="5107240" cy="1815882"/>
          </a:xfrm>
          <a:prstGeom prst="rect">
            <a:avLst/>
          </a:prstGeom>
          <a:noFill/>
        </p:spPr>
        <p:txBody>
          <a:bodyPr wrap="square">
            <a:spAutoFit/>
          </a:bodyPr>
          <a:lstStyle/>
          <a:p>
            <a:pPr>
              <a:buNone/>
            </a:pPr>
            <a:r>
              <a:rPr lang="en-US" sz="1400" b="1" dirty="0">
                <a:solidFill>
                  <a:schemeClr val="bg1"/>
                </a:solidFill>
              </a:rPr>
              <a:t>Key Insights</a:t>
            </a:r>
          </a:p>
          <a:p>
            <a:pPr>
              <a:buFont typeface="Arial" panose="020B0604020202020204" pitchFamily="34" charset="0"/>
              <a:buChar char="•"/>
            </a:pPr>
            <a:r>
              <a:rPr lang="en-US" sz="1400" dirty="0">
                <a:solidFill>
                  <a:schemeClr val="bg1"/>
                </a:solidFill>
              </a:rPr>
              <a:t>Age at Diagnosis and Nottingham Prognostic Index showed strong impact on mortality risk. </a:t>
            </a:r>
          </a:p>
          <a:p>
            <a:pPr>
              <a:buFont typeface="Arial" panose="020B0604020202020204" pitchFamily="34" charset="0"/>
              <a:buChar char="•"/>
            </a:pPr>
            <a:r>
              <a:rPr lang="en-US" sz="1400" dirty="0">
                <a:solidFill>
                  <a:schemeClr val="bg1"/>
                </a:solidFill>
              </a:rPr>
              <a:t>Higher tumor size was associated with increased mortality risk.</a:t>
            </a:r>
          </a:p>
          <a:p>
            <a:pPr>
              <a:buFont typeface="Arial" panose="020B0604020202020204" pitchFamily="34" charset="0"/>
              <a:buChar char="•"/>
            </a:pPr>
            <a:r>
              <a:rPr lang="en-US" sz="1400" dirty="0">
                <a:solidFill>
                  <a:schemeClr val="bg1"/>
                </a:solidFill>
              </a:rPr>
              <a:t>The Cox PH model helped estimate long-term survival probability over time. </a:t>
            </a:r>
          </a:p>
          <a:p>
            <a:pPr>
              <a:buFont typeface="Arial" panose="020B0604020202020204" pitchFamily="34" charset="0"/>
              <a:buChar char="•"/>
            </a:pPr>
            <a:r>
              <a:rPr lang="en-US" sz="1400" dirty="0">
                <a:solidFill>
                  <a:schemeClr val="bg1"/>
                </a:solidFill>
              </a:rPr>
              <a:t>The model achieved a concordance score of </a:t>
            </a:r>
            <a:r>
              <a:rPr lang="en-US" sz="1400" b="1" dirty="0">
                <a:solidFill>
                  <a:schemeClr val="bg1"/>
                </a:solidFill>
              </a:rPr>
              <a:t>0.65</a:t>
            </a:r>
            <a:r>
              <a:rPr lang="en-US" sz="1400" dirty="0">
                <a:solidFill>
                  <a:schemeClr val="bg1"/>
                </a:solidFill>
              </a:rPr>
              <a:t>, indicating moderate predictive performance.</a:t>
            </a:r>
          </a:p>
        </p:txBody>
      </p:sp>
    </p:spTree>
    <p:extLst>
      <p:ext uri="{BB962C8B-B14F-4D97-AF65-F5344CB8AC3E}">
        <p14:creationId xmlns:p14="http://schemas.microsoft.com/office/powerpoint/2010/main" val="997699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93AC-0EA7-EB0A-9335-DCF59D775231}"/>
              </a:ext>
            </a:extLst>
          </p:cNvPr>
          <p:cNvSpPr>
            <a:spLocks noGrp="1"/>
          </p:cNvSpPr>
          <p:nvPr>
            <p:ph type="title"/>
          </p:nvPr>
        </p:nvSpPr>
        <p:spPr>
          <a:xfrm>
            <a:off x="540102" y="665247"/>
            <a:ext cx="5107239" cy="612775"/>
          </a:xfrm>
        </p:spPr>
        <p:txBody>
          <a:bodyPr/>
          <a:lstStyle/>
          <a:p>
            <a:r>
              <a:rPr lang="en-IN" dirty="0">
                <a:solidFill>
                  <a:schemeClr val="tx1">
                    <a:lumMod val="90000"/>
                    <a:lumOff val="10000"/>
                  </a:schemeClr>
                </a:solidFill>
              </a:rPr>
              <a:t>Conclusion</a:t>
            </a:r>
          </a:p>
        </p:txBody>
      </p:sp>
      <p:sp>
        <p:nvSpPr>
          <p:cNvPr id="3" name="Content Placeholder 2">
            <a:extLst>
              <a:ext uri="{FF2B5EF4-FFF2-40B4-BE49-F238E27FC236}">
                <a16:creationId xmlns:a16="http://schemas.microsoft.com/office/drawing/2014/main" id="{C1AEF483-56D4-B82C-9EA0-7E9791B21BF9}"/>
              </a:ext>
            </a:extLst>
          </p:cNvPr>
          <p:cNvSpPr>
            <a:spLocks noGrp="1"/>
          </p:cNvSpPr>
          <p:nvPr>
            <p:ph idx="1"/>
          </p:nvPr>
        </p:nvSpPr>
        <p:spPr>
          <a:xfrm>
            <a:off x="540101" y="1551495"/>
            <a:ext cx="5107239" cy="4398066"/>
          </a:xfrm>
        </p:spPr>
        <p:txBody>
          <a:bodyPr>
            <a:noAutofit/>
          </a:bodyPr>
          <a:lstStyle/>
          <a:p>
            <a:r>
              <a:rPr lang="en-US" sz="1400" dirty="0"/>
              <a:t>This project successfully analyzed breast cancer survival patterns and developed machine learning and survival analysis models to predict the 10-year mortality risk of breast cancer patients.</a:t>
            </a:r>
          </a:p>
          <a:p>
            <a:r>
              <a:rPr lang="en-US" sz="1400" dirty="0"/>
              <a:t>Preprocessing, exploratory data analysis, feature engineering, and model evaluation techniques helped identify important clinical and tumor-related survival factors.</a:t>
            </a:r>
          </a:p>
          <a:p>
            <a:r>
              <a:rPr lang="en-US" sz="1400" dirty="0"/>
              <a:t>Among the machine learning models tested, the </a:t>
            </a:r>
            <a:r>
              <a:rPr lang="en-US" sz="1400" b="1" dirty="0"/>
              <a:t>Random Forest Classifier</a:t>
            </a:r>
            <a:r>
              <a:rPr lang="en-US" sz="1400" dirty="0"/>
              <a:t> achieved the best overall prediction performance, Survival analysis using the Kaplan-Meier Curve and Cox Proportional Hazards Model provided additional insights into long-term survival probability and mortality risk.</a:t>
            </a:r>
          </a:p>
          <a:p>
            <a:r>
              <a:rPr lang="en-US" sz="1400" dirty="0"/>
              <a:t>The project demonstrated that features such as </a:t>
            </a:r>
            <a:r>
              <a:rPr lang="en-US" sz="1400" b="1" dirty="0"/>
              <a:t>Age at Diagnosis, Nottingham Prognostic Index, Tumor Size, and Mutation Count</a:t>
            </a:r>
            <a:r>
              <a:rPr lang="en-US" sz="1400" dirty="0"/>
              <a:t> played significant roles in survival prediction and mortality risk estimation.</a:t>
            </a:r>
          </a:p>
          <a:p>
            <a:endParaRPr lang="en-IN" sz="1400" dirty="0"/>
          </a:p>
        </p:txBody>
      </p:sp>
      <p:sp>
        <p:nvSpPr>
          <p:cNvPr id="5" name="TextBox 4">
            <a:extLst>
              <a:ext uri="{FF2B5EF4-FFF2-40B4-BE49-F238E27FC236}">
                <a16:creationId xmlns:a16="http://schemas.microsoft.com/office/drawing/2014/main" id="{5FF6AD50-C2AC-E641-B69F-80174D2D8170}"/>
              </a:ext>
            </a:extLst>
          </p:cNvPr>
          <p:cNvSpPr txBox="1"/>
          <p:nvPr/>
        </p:nvSpPr>
        <p:spPr>
          <a:xfrm>
            <a:off x="6272287" y="1629383"/>
            <a:ext cx="6099242" cy="1997919"/>
          </a:xfrm>
          <a:prstGeom prst="rect">
            <a:avLst/>
          </a:prstGeom>
          <a:noFill/>
        </p:spPr>
        <p:txBody>
          <a:bodyPr wrap="square">
            <a:spAutoFit/>
          </a:bodyPr>
          <a:lstStyle/>
          <a:p>
            <a:pPr>
              <a:lnSpc>
                <a:spcPct val="150000"/>
              </a:lnSpc>
              <a:buNone/>
            </a:pPr>
            <a:r>
              <a:rPr lang="en-US" sz="1400" b="1" dirty="0">
                <a:solidFill>
                  <a:schemeClr val="bg1"/>
                </a:solidFill>
              </a:rPr>
              <a:t>Conclusion Highlights</a:t>
            </a:r>
          </a:p>
          <a:p>
            <a:pPr>
              <a:lnSpc>
                <a:spcPct val="150000"/>
              </a:lnSpc>
              <a:buFont typeface="Arial" panose="020B0604020202020204" pitchFamily="34" charset="0"/>
              <a:buChar char="•"/>
            </a:pPr>
            <a:r>
              <a:rPr lang="en-US" sz="1400" dirty="0">
                <a:solidFill>
                  <a:schemeClr val="bg1"/>
                </a:solidFill>
              </a:rPr>
              <a:t>Machine learning models successfully predicted mortality risk. </a:t>
            </a:r>
          </a:p>
          <a:p>
            <a:pPr>
              <a:lnSpc>
                <a:spcPct val="150000"/>
              </a:lnSpc>
              <a:buFont typeface="Arial" panose="020B0604020202020204" pitchFamily="34" charset="0"/>
              <a:buChar char="•"/>
            </a:pPr>
            <a:r>
              <a:rPr lang="en-US" sz="1400" dirty="0">
                <a:solidFill>
                  <a:schemeClr val="bg1"/>
                </a:solidFill>
              </a:rPr>
              <a:t>Random Forest achieved the best overall model performance. </a:t>
            </a:r>
          </a:p>
          <a:p>
            <a:pPr>
              <a:lnSpc>
                <a:spcPct val="150000"/>
              </a:lnSpc>
              <a:buFont typeface="Arial" panose="020B0604020202020204" pitchFamily="34" charset="0"/>
              <a:buChar char="•"/>
            </a:pPr>
            <a:r>
              <a:rPr lang="en-US" sz="1400" dirty="0">
                <a:solidFill>
                  <a:schemeClr val="bg1"/>
                </a:solidFill>
              </a:rPr>
              <a:t>Survival analysis improved understanding of long-term patient outcomes. </a:t>
            </a:r>
          </a:p>
          <a:p>
            <a:pPr>
              <a:lnSpc>
                <a:spcPct val="150000"/>
              </a:lnSpc>
              <a:buFont typeface="Arial" panose="020B0604020202020204" pitchFamily="34" charset="0"/>
              <a:buChar char="•"/>
            </a:pPr>
            <a:r>
              <a:rPr lang="en-US" sz="1400" dirty="0">
                <a:solidFill>
                  <a:schemeClr val="bg1"/>
                </a:solidFill>
              </a:rPr>
              <a:t>Clinical and tumor-related features strongly influenced survival prediction. </a:t>
            </a:r>
          </a:p>
          <a:p>
            <a:pPr>
              <a:lnSpc>
                <a:spcPct val="150000"/>
              </a:lnSpc>
              <a:buFont typeface="Arial" panose="020B0604020202020204" pitchFamily="34" charset="0"/>
              <a:buChar char="•"/>
            </a:pPr>
            <a:r>
              <a:rPr lang="en-US" sz="1400" dirty="0">
                <a:solidFill>
                  <a:schemeClr val="bg1"/>
                </a:solidFill>
              </a:rPr>
              <a:t>The project supports improved treatment planning and patient counselling.</a:t>
            </a:r>
          </a:p>
        </p:txBody>
      </p:sp>
    </p:spTree>
    <p:extLst>
      <p:ext uri="{BB962C8B-B14F-4D97-AF65-F5344CB8AC3E}">
        <p14:creationId xmlns:p14="http://schemas.microsoft.com/office/powerpoint/2010/main" val="2503157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129E2-8180-CABA-642A-27F523676B72}"/>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9425DA7A-A4CD-CABE-3306-C082601D2FF0}"/>
              </a:ext>
            </a:extLst>
          </p:cNvPr>
          <p:cNvSpPr>
            <a:spLocks noGrp="1"/>
          </p:cNvSpPr>
          <p:nvPr>
            <p:ph idx="1"/>
          </p:nvPr>
        </p:nvSpPr>
        <p:spPr>
          <a:xfrm>
            <a:off x="933856" y="2438077"/>
            <a:ext cx="10579262" cy="2668461"/>
          </a:xfrm>
        </p:spPr>
        <p:txBody>
          <a:bodyPr>
            <a:normAutofit/>
          </a:bodyPr>
          <a:lstStyle/>
          <a:p>
            <a:endParaRPr lang="en-US" sz="1800" dirty="0"/>
          </a:p>
          <a:p>
            <a:pPr marL="0" indent="0">
              <a:buNone/>
            </a:pPr>
            <a:r>
              <a:rPr lang="en-US" sz="1800" b="1" dirty="0">
                <a:solidFill>
                  <a:schemeClr val="tx1">
                    <a:lumMod val="90000"/>
                    <a:lumOff val="10000"/>
                  </a:schemeClr>
                </a:solidFill>
              </a:rPr>
              <a:t>Future Improvements</a:t>
            </a:r>
          </a:p>
          <a:p>
            <a:r>
              <a:rPr lang="en-US" sz="1800" dirty="0"/>
              <a:t>Use larger and real-time clinical datasets from hospitals and cancer research centers </a:t>
            </a:r>
          </a:p>
          <a:p>
            <a:r>
              <a:rPr lang="en-US" sz="1800" dirty="0"/>
              <a:t>Implement advanced deep learning models such as ANN and Neural Networks </a:t>
            </a:r>
          </a:p>
          <a:p>
            <a:r>
              <a:rPr lang="en-US" sz="1800" dirty="0"/>
              <a:t>Develop interactive dashboards using Power BI or Tableau for survival prediction analysis</a:t>
            </a:r>
          </a:p>
          <a:p>
            <a:r>
              <a:rPr lang="en-US" sz="1800" dirty="0"/>
              <a:t>Improve personalized treatment planning and patient risk assessment </a:t>
            </a:r>
          </a:p>
          <a:p>
            <a:r>
              <a:rPr lang="en-US" sz="1800" dirty="0"/>
              <a:t>Apply Explainable AI (XAI) techniques for better clinical interpretation and transparency </a:t>
            </a:r>
          </a:p>
          <a:p>
            <a:endParaRPr lang="en-IN" sz="1800" dirty="0"/>
          </a:p>
        </p:txBody>
      </p:sp>
      <p:sp>
        <p:nvSpPr>
          <p:cNvPr id="5" name="TextBox 4">
            <a:extLst>
              <a:ext uri="{FF2B5EF4-FFF2-40B4-BE49-F238E27FC236}">
                <a16:creationId xmlns:a16="http://schemas.microsoft.com/office/drawing/2014/main" id="{6910EF16-3D17-ABCD-1607-3E5D1E6C6A10}"/>
              </a:ext>
            </a:extLst>
          </p:cNvPr>
          <p:cNvSpPr txBox="1"/>
          <p:nvPr/>
        </p:nvSpPr>
        <p:spPr>
          <a:xfrm>
            <a:off x="583659" y="1216441"/>
            <a:ext cx="11079805" cy="1077218"/>
          </a:xfrm>
          <a:prstGeom prst="rect">
            <a:avLst/>
          </a:prstGeom>
          <a:noFill/>
        </p:spPr>
        <p:txBody>
          <a:bodyPr wrap="square">
            <a:spAutoFit/>
          </a:bodyPr>
          <a:lstStyle/>
          <a:p>
            <a:pPr>
              <a:buNone/>
            </a:pPr>
            <a:r>
              <a:rPr lang="en-US" sz="1600" dirty="0"/>
              <a:t>The project can be further improved using larger and more diverse healthcare datasets to enhance prediction accuracy and model reliability. Advanced machine learning and deep learning techniques can also be implemented to improve survival prediction and identify more complex clinical patterns. Future work may include integrating real-time hospital data and developing interactive dashboards for survival analysis and visualization.</a:t>
            </a:r>
          </a:p>
        </p:txBody>
      </p:sp>
    </p:spTree>
    <p:extLst>
      <p:ext uri="{BB962C8B-B14F-4D97-AF65-F5344CB8AC3E}">
        <p14:creationId xmlns:p14="http://schemas.microsoft.com/office/powerpoint/2010/main" val="1255937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a:xfrm>
            <a:off x="3597180" y="576263"/>
            <a:ext cx="10834234" cy="2852737"/>
          </a:xfrm>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7112</TotalTime>
  <Words>2385</Words>
  <Application>Microsoft Office PowerPoint</Application>
  <PresentationFormat>Widescreen</PresentationFormat>
  <Paragraphs>164</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Wingdings</vt:lpstr>
      <vt:lpstr>BIA Template</vt:lpstr>
      <vt:lpstr>PowerPoint Presentation</vt:lpstr>
      <vt:lpstr>Agenda</vt:lpstr>
      <vt:lpstr>Introduction to Breast Cancer Survival Prediction</vt:lpstr>
      <vt:lpstr>PowerPoint Presentation</vt:lpstr>
      <vt:lpstr>Breast Cancer Dataset </vt:lpstr>
      <vt:lpstr>Data Preprocessing</vt:lpstr>
      <vt:lpstr>Exploratory Data Analysis (EDA)</vt:lpstr>
      <vt:lpstr>Visualizations Used</vt:lpstr>
      <vt:lpstr>PowerPoint Presentation</vt:lpstr>
      <vt:lpstr>Correlation Heatmap Analysis</vt:lpstr>
      <vt:lpstr>PowerPoint Presentation</vt:lpstr>
      <vt:lpstr>Machine Learning Model Training</vt:lpstr>
      <vt:lpstr>Model Preparation</vt:lpstr>
      <vt:lpstr>Model Evaluation &amp; Comparison</vt:lpstr>
      <vt:lpstr>Model Comparison Analysis and ROC Curve Comparison</vt:lpstr>
      <vt:lpstr>Feature Importance Analysis</vt:lpstr>
      <vt:lpstr>Survival Analysis — Kaplan Meier Curve</vt:lpstr>
      <vt:lpstr>Cox Proportional Hazards Model Analysis</vt:lpstr>
      <vt:lpstr>Conclusion</vt:lpstr>
      <vt:lpstr>Future Scope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Temp</cp:lastModifiedBy>
  <cp:revision>2256</cp:revision>
  <dcterms:created xsi:type="dcterms:W3CDTF">2020-12-23T13:36:00Z</dcterms:created>
  <dcterms:modified xsi:type="dcterms:W3CDTF">2026-05-17T10:05:17Z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